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</p:sldMasterIdLst>
  <p:notesMasterIdLst>
    <p:notesMasterId r:id="rId41"/>
  </p:notesMasterIdLst>
  <p:sldIdLst>
    <p:sldId id="306" r:id="rId3"/>
    <p:sldId id="261" r:id="rId4"/>
    <p:sldId id="262" r:id="rId5"/>
    <p:sldId id="390" r:id="rId6"/>
    <p:sldId id="264" r:id="rId7"/>
    <p:sldId id="307" r:id="rId8"/>
    <p:sldId id="383" r:id="rId9"/>
    <p:sldId id="384" r:id="rId10"/>
    <p:sldId id="385" r:id="rId11"/>
    <p:sldId id="396" r:id="rId12"/>
    <p:sldId id="263" r:id="rId13"/>
    <p:sldId id="397" r:id="rId14"/>
    <p:sldId id="398" r:id="rId15"/>
    <p:sldId id="391" r:id="rId16"/>
    <p:sldId id="267" r:id="rId17"/>
    <p:sldId id="268" r:id="rId18"/>
    <p:sldId id="269" r:id="rId19"/>
    <p:sldId id="386" r:id="rId20"/>
    <p:sldId id="407" r:id="rId21"/>
    <p:sldId id="387" r:id="rId22"/>
    <p:sldId id="388" r:id="rId23"/>
    <p:sldId id="389" r:id="rId24"/>
    <p:sldId id="392" r:id="rId25"/>
    <p:sldId id="393" r:id="rId26"/>
    <p:sldId id="309" r:id="rId27"/>
    <p:sldId id="382" r:id="rId28"/>
    <p:sldId id="311" r:id="rId29"/>
    <p:sldId id="310" r:id="rId30"/>
    <p:sldId id="399" r:id="rId31"/>
    <p:sldId id="400" r:id="rId32"/>
    <p:sldId id="402" r:id="rId33"/>
    <p:sldId id="401" r:id="rId34"/>
    <p:sldId id="404" r:id="rId35"/>
    <p:sldId id="403" r:id="rId36"/>
    <p:sldId id="405" r:id="rId37"/>
    <p:sldId id="406" r:id="rId38"/>
    <p:sldId id="380" r:id="rId39"/>
    <p:sldId id="38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00" autoAdjust="0"/>
    <p:restoredTop sz="80057" autoAdjust="0"/>
  </p:normalViewPr>
  <p:slideViewPr>
    <p:cSldViewPr snapToGrid="0" snapToObjects="1">
      <p:cViewPr>
        <p:scale>
          <a:sx n="60" d="100"/>
          <a:sy n="60" d="100"/>
        </p:scale>
        <p:origin x="30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6C2FE-5DE9-4A93-90CD-205051C157E5}" type="datetimeFigureOut">
              <a:rPr lang="id-ID" smtClean="0"/>
              <a:t>27/10/2026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03F1F-F4E5-4C24-8AAD-558B39679D5E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2183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702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f25222c328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f25222c328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296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5a4e9fa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5a4e9fa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6303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5a4e9fa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5a4e9fa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732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5a4e9fac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5a4e9fac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96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5a4e9fac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5a4e9fac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3079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5a4e9fa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5a4e9fa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0653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5a4e9fa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5a4e9fa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910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5a4e9fa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5a4e9fa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Model = </a:t>
            </a:r>
            <a:r>
              <a:rPr lang="en-US" dirty="0" err="1"/>
              <a:t>Representasi</a:t>
            </a:r>
            <a:r>
              <a:rPr lang="en-US" baseline="0" dirty="0"/>
              <a:t> </a:t>
            </a:r>
            <a:r>
              <a:rPr lang="en-US" baseline="0" dirty="0" err="1"/>
              <a:t>terhadap</a:t>
            </a:r>
            <a:r>
              <a:rPr lang="en-US" baseline="0" dirty="0"/>
              <a:t> </a:t>
            </a:r>
            <a:r>
              <a:rPr lang="en-US" baseline="0" dirty="0" err="1"/>
              <a:t>sesuatu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6738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f5a4e9fa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f5a4e9fa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kotak</a:t>
            </a:r>
            <a:r>
              <a:rPr lang="en-US" dirty="0"/>
              <a:t> dan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7492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8362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34063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0519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Traversal = </a:t>
            </a:r>
            <a:r>
              <a:rPr lang="en-US" dirty="0" err="1"/>
              <a:t>menelusuri</a:t>
            </a:r>
            <a:r>
              <a:rPr lang="en-US" dirty="0"/>
              <a:t> element html </a:t>
            </a:r>
            <a:r>
              <a:rPr lang="en-US" dirty="0" err="1"/>
              <a:t>lewat</a:t>
            </a:r>
            <a:r>
              <a:rPr lang="en-US" dirty="0"/>
              <a:t> element html </a:t>
            </a:r>
            <a:r>
              <a:rPr lang="en-US" dirty="0" err="1"/>
              <a:t>lainnya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5342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f25222c328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f25222c328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793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f5a4e9fac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f5a4e9fac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4145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a4e9fac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a4e9fac3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412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291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f25222c328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f25222c328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92589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968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2796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46370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HtmlCollection</a:t>
            </a:r>
            <a:r>
              <a:rPr lang="en-US" sz="1200" dirty="0"/>
              <a:t> </a:t>
            </a:r>
            <a:r>
              <a:rPr lang="en-US" sz="1200" dirty="0" err="1"/>
              <a:t>bersifat</a:t>
            </a:r>
            <a:r>
              <a:rPr lang="en-US" sz="1200" dirty="0"/>
              <a:t> live </a:t>
            </a:r>
            <a:r>
              <a:rPr lang="en-US" sz="1200" dirty="0" err="1"/>
              <a:t>sedangkan</a:t>
            </a:r>
            <a:r>
              <a:rPr lang="en-US" sz="1200" dirty="0"/>
              <a:t> </a:t>
            </a:r>
            <a:r>
              <a:rPr lang="en-US" sz="1200" dirty="0" err="1"/>
              <a:t>nodeList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5243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5a4e9fa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5a4e9fa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Semua</a:t>
            </a:r>
            <a:r>
              <a:rPr lang="en-US" dirty="0"/>
              <a:t> node </a:t>
            </a:r>
            <a:r>
              <a:rPr lang="en-US" dirty="0" err="1"/>
              <a:t>didalam</a:t>
            </a:r>
            <a:r>
              <a:rPr lang="en-US" dirty="0"/>
              <a:t> DOM Tree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mesti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/ </a:t>
            </a:r>
            <a:r>
              <a:rPr lang="en-US" dirty="0" err="1"/>
              <a:t>relasi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node,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penelusuran</a:t>
            </a:r>
            <a:r>
              <a:rPr lang="en-US" dirty="0"/>
              <a:t> </a:t>
            </a:r>
            <a:r>
              <a:rPr lang="en-US" dirty="0" err="1"/>
              <a:t>dom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Grand Parent = </a:t>
            </a:r>
            <a:r>
              <a:rPr lang="en-US" dirty="0" err="1"/>
              <a:t>kakek</a:t>
            </a:r>
            <a:r>
              <a:rPr lang="en-US" dirty="0"/>
              <a:t> </a:t>
            </a:r>
            <a:r>
              <a:rPr lang="en-US" dirty="0" err="1"/>
              <a:t>nenek</a:t>
            </a:r>
            <a:r>
              <a:rPr lang="en-US" dirty="0"/>
              <a:t> (dua Tingkat </a:t>
            </a:r>
            <a:r>
              <a:rPr lang="en-US" dirty="0" err="1"/>
              <a:t>diatanya</a:t>
            </a:r>
            <a:r>
              <a:rPr lang="en-US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Anchestor</a:t>
            </a:r>
            <a:r>
              <a:rPr lang="en-US" dirty="0"/>
              <a:t> = </a:t>
            </a:r>
            <a:r>
              <a:rPr lang="en-US" dirty="0" err="1"/>
              <a:t>nenek</a:t>
            </a:r>
            <a:r>
              <a:rPr lang="en-US" dirty="0"/>
              <a:t> </a:t>
            </a:r>
            <a:r>
              <a:rPr lang="en-US" dirty="0" err="1"/>
              <a:t>moyang</a:t>
            </a:r>
            <a:r>
              <a:rPr lang="en-US" dirty="0"/>
              <a:t> (dua Tingkat </a:t>
            </a:r>
            <a:r>
              <a:rPr lang="en-US" dirty="0" err="1"/>
              <a:t>diatsanya</a:t>
            </a:r>
            <a:r>
              <a:rPr lang="en-US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Sibling = </a:t>
            </a:r>
            <a:r>
              <a:rPr lang="en-US" dirty="0" err="1"/>
              <a:t>saudara</a:t>
            </a:r>
            <a:r>
              <a:rPr lang="en-US" dirty="0"/>
              <a:t> </a:t>
            </a:r>
            <a:r>
              <a:rPr lang="en-US" dirty="0" err="1"/>
              <a:t>kandung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13296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5a4e9fac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5a4e9fac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Memilih</a:t>
            </a:r>
            <a:r>
              <a:rPr lang="en-US" dirty="0"/>
              <a:t> element-element html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js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 Ketika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memanipulasi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penelusuran</a:t>
            </a:r>
            <a:r>
              <a:rPr lang="en-US" dirty="0"/>
              <a:t> pada DOM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33377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a4e9fac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a4e9fac3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04926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5a4e9fac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5a4e9fac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innerHTML</a:t>
            </a:r>
            <a:r>
              <a:rPr lang="en-US" dirty="0"/>
              <a:t> =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merubah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element/text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diseleksi</a:t>
            </a:r>
            <a:endParaRPr lang="en-US" dirty="0"/>
          </a:p>
          <a:p>
            <a:pPr marL="0" indent="0">
              <a:buNone/>
            </a:pPr>
            <a:r>
              <a:rPr lang="en-US" sz="1200" dirty="0" err="1"/>
              <a:t>element.style</a:t>
            </a:r>
            <a:r>
              <a:rPr lang="en-US" sz="1200" dirty="0"/>
              <a:t>=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merubah</a:t>
            </a:r>
            <a:r>
              <a:rPr lang="en-US" sz="1200" dirty="0"/>
              <a:t> style / </a:t>
            </a:r>
            <a:r>
              <a:rPr lang="en-US" sz="1200" dirty="0" err="1"/>
              <a:t>css</a:t>
            </a:r>
            <a:r>
              <a:rPr lang="en-US" sz="1200" dirty="0"/>
              <a:t> yang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diseleksi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element.setAttribute</a:t>
            </a:r>
            <a:r>
              <a:rPr lang="en-US" sz="1200" dirty="0"/>
              <a:t>() =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attribute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diseleksi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element.classList</a:t>
            </a:r>
            <a:r>
              <a:rPr lang="en-US" sz="1200" dirty="0"/>
              <a:t> =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class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diseleksi</a:t>
            </a:r>
            <a:r>
              <a:rPr lang="en-US" dirty="0"/>
              <a:t> / </a:t>
            </a:r>
            <a:r>
              <a:rPr lang="en-US" dirty="0" err="1"/>
              <a:t>mengelola</a:t>
            </a:r>
            <a:r>
              <a:rPr lang="en-US" dirty="0"/>
              <a:t> class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khusus</a:t>
            </a: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64959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5a4e9fac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5a4e9fac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1200" i="1" dirty="0" err="1"/>
              <a:t>element.classList.add</a:t>
            </a:r>
            <a:r>
              <a:rPr lang="en-US" sz="1200" i="1" dirty="0"/>
              <a:t>() = </a:t>
            </a:r>
            <a:r>
              <a:rPr lang="en-US" sz="1200" i="1" dirty="0" err="1"/>
              <a:t>menambahkan</a:t>
            </a:r>
            <a:r>
              <a:rPr lang="en-US" sz="1200" i="1" dirty="0"/>
              <a:t> </a:t>
            </a:r>
            <a:r>
              <a:rPr lang="en-US" sz="1200" i="1" dirty="0" err="1"/>
              <a:t>kelas</a:t>
            </a:r>
            <a:r>
              <a:rPr lang="en-US" sz="1200" i="1" dirty="0"/>
              <a:t> </a:t>
            </a:r>
            <a:r>
              <a:rPr lang="en-US" sz="1200" i="1" dirty="0" err="1"/>
              <a:t>baru</a:t>
            </a:r>
            <a:endParaRPr lang="en-US" sz="1200" i="1" dirty="0"/>
          </a:p>
          <a:p>
            <a:pPr marL="285750" indent="-285750"/>
            <a:r>
              <a:rPr lang="en-US" sz="1200" i="1" dirty="0" err="1"/>
              <a:t>element.classList.remove</a:t>
            </a:r>
            <a:r>
              <a:rPr lang="en-US" sz="1200" i="1" dirty="0"/>
              <a:t> = </a:t>
            </a:r>
            <a:r>
              <a:rPr lang="en-US" sz="1200" i="1" dirty="0" err="1"/>
              <a:t>menghilangkan</a:t>
            </a:r>
            <a:r>
              <a:rPr lang="en-US" sz="1200" i="1" dirty="0"/>
              <a:t> </a:t>
            </a:r>
            <a:r>
              <a:rPr lang="en-US" sz="1200" i="1" dirty="0" err="1"/>
              <a:t>kelas</a:t>
            </a:r>
            <a:r>
              <a:rPr lang="en-US" sz="1200" i="1" dirty="0"/>
              <a:t> yang </a:t>
            </a:r>
            <a:r>
              <a:rPr lang="en-US" sz="1200" i="1" dirty="0" err="1"/>
              <a:t>ada</a:t>
            </a:r>
            <a:endParaRPr lang="en-US" sz="1200" i="1" dirty="0"/>
          </a:p>
          <a:p>
            <a:pPr marL="285750" indent="-285750"/>
            <a:r>
              <a:rPr lang="en-US" sz="1200" i="1" dirty="0" err="1"/>
              <a:t>element.classList.toggle</a:t>
            </a:r>
            <a:r>
              <a:rPr lang="en-US" sz="1200" i="1" dirty="0"/>
              <a:t>() = kalo </a:t>
            </a:r>
            <a:r>
              <a:rPr lang="en-US" sz="1200" i="1" dirty="0" err="1"/>
              <a:t>sudah</a:t>
            </a:r>
            <a:r>
              <a:rPr lang="en-US" sz="1200" i="1" dirty="0"/>
              <a:t> punya </a:t>
            </a:r>
            <a:r>
              <a:rPr lang="en-US" sz="1200" i="1" dirty="0" err="1"/>
              <a:t>kelas</a:t>
            </a:r>
            <a:r>
              <a:rPr lang="en-US" sz="1200" i="1" dirty="0"/>
              <a:t> </a:t>
            </a:r>
            <a:r>
              <a:rPr lang="en-US" sz="1200" i="1" dirty="0" err="1"/>
              <a:t>akan</a:t>
            </a:r>
            <a:r>
              <a:rPr lang="en-US" sz="1200" i="1" dirty="0"/>
              <a:t> </a:t>
            </a:r>
            <a:r>
              <a:rPr lang="en-US" sz="1200" i="1" dirty="0" err="1"/>
              <a:t>menambahkan</a:t>
            </a:r>
            <a:r>
              <a:rPr lang="en-US" sz="1200" i="1" dirty="0"/>
              <a:t>, </a:t>
            </a:r>
            <a:r>
              <a:rPr lang="en-US" sz="1200" i="1" dirty="0" err="1"/>
              <a:t>sebaliknya</a:t>
            </a:r>
            <a:r>
              <a:rPr lang="en-US" sz="1200" i="1" dirty="0"/>
              <a:t> </a:t>
            </a:r>
          </a:p>
          <a:p>
            <a:pPr marL="285750" indent="-285750"/>
            <a:r>
              <a:rPr lang="en-US" sz="1200" i="1" dirty="0" err="1"/>
              <a:t>element.classList.item</a:t>
            </a:r>
            <a:r>
              <a:rPr lang="en-US" sz="1200" i="1" dirty="0"/>
              <a:t>() = </a:t>
            </a:r>
            <a:r>
              <a:rPr lang="en-US" sz="1200" i="1" dirty="0" err="1"/>
              <a:t>untuk</a:t>
            </a:r>
            <a:r>
              <a:rPr lang="en-US" sz="1200" i="1" dirty="0"/>
              <a:t> </a:t>
            </a:r>
            <a:r>
              <a:rPr lang="en-US" sz="1200" i="1" dirty="0" err="1"/>
              <a:t>mengetahui</a:t>
            </a:r>
            <a:r>
              <a:rPr lang="en-US" sz="1200" i="1" dirty="0"/>
              <a:t> </a:t>
            </a:r>
            <a:r>
              <a:rPr lang="en-US" sz="1200" i="1" dirty="0" err="1"/>
              <a:t>kelas</a:t>
            </a:r>
            <a:r>
              <a:rPr lang="en-US" sz="1200" i="1" dirty="0"/>
              <a:t> </a:t>
            </a:r>
            <a:r>
              <a:rPr lang="en-US" sz="1200" i="1" dirty="0" err="1"/>
              <a:t>tertentu</a:t>
            </a:r>
            <a:endParaRPr lang="en-US" sz="1200" i="1" dirty="0"/>
          </a:p>
          <a:p>
            <a:pPr marL="285750" indent="-285750"/>
            <a:r>
              <a:rPr lang="en-US" sz="1200" i="1" dirty="0" err="1"/>
              <a:t>element.classList.contains</a:t>
            </a:r>
            <a:r>
              <a:rPr lang="en-US" sz="1200" i="1" dirty="0"/>
              <a:t>() = </a:t>
            </a:r>
            <a:r>
              <a:rPr lang="en-US" sz="1200" i="1" dirty="0" err="1"/>
              <a:t>dalam</a:t>
            </a:r>
            <a:r>
              <a:rPr lang="en-US" sz="1200" i="1" dirty="0"/>
              <a:t> </a:t>
            </a:r>
            <a:r>
              <a:rPr lang="en-US" sz="1200" i="1" dirty="0" err="1"/>
              <a:t>sebuah</a:t>
            </a:r>
            <a:r>
              <a:rPr lang="en-US" sz="1200" i="1" dirty="0"/>
              <a:t> element punya </a:t>
            </a:r>
            <a:r>
              <a:rPr lang="en-US" sz="1200" i="1" dirty="0" err="1"/>
              <a:t>tidak</a:t>
            </a:r>
            <a:r>
              <a:rPr lang="en-US" sz="1200" i="1" dirty="0"/>
              <a:t> </a:t>
            </a:r>
            <a:r>
              <a:rPr lang="en-US" sz="1200" i="1" dirty="0" err="1"/>
              <a:t>kelas</a:t>
            </a:r>
            <a:r>
              <a:rPr lang="en-US" sz="1200" i="1" dirty="0"/>
              <a:t> </a:t>
            </a:r>
            <a:r>
              <a:rPr lang="en-US" sz="1200" i="1" dirty="0" err="1"/>
              <a:t>tertentu</a:t>
            </a:r>
            <a:endParaRPr lang="en-US" sz="1200" i="1" dirty="0"/>
          </a:p>
          <a:p>
            <a:pPr marL="285750" indent="-285750"/>
            <a:r>
              <a:rPr lang="en-US" sz="1200" i="1" dirty="0" err="1"/>
              <a:t>element.classList.replace</a:t>
            </a:r>
            <a:r>
              <a:rPr lang="en-US" sz="1200" i="1" dirty="0"/>
              <a:t>() = </a:t>
            </a:r>
            <a:r>
              <a:rPr lang="en-US" sz="1200" i="1" dirty="0" err="1"/>
              <a:t>mengecek</a:t>
            </a:r>
            <a:r>
              <a:rPr lang="en-US" sz="1200" i="1" dirty="0"/>
              <a:t> </a:t>
            </a:r>
            <a:r>
              <a:rPr lang="en-US" sz="1200" i="1" dirty="0" err="1"/>
              <a:t>dalam</a:t>
            </a:r>
            <a:r>
              <a:rPr lang="en-US" sz="1200" i="1" dirty="0"/>
              <a:t> </a:t>
            </a:r>
            <a:r>
              <a:rPr lang="en-US" sz="1200" i="1" dirty="0" err="1"/>
              <a:t>sebuah</a:t>
            </a:r>
            <a:r>
              <a:rPr lang="en-US" sz="1200" i="1" dirty="0"/>
              <a:t> </a:t>
            </a:r>
            <a:r>
              <a:rPr lang="en-US" sz="1200" i="1" dirty="0" err="1"/>
              <a:t>konten</a:t>
            </a:r>
            <a:r>
              <a:rPr lang="en-US" sz="1200" i="1" dirty="0"/>
              <a:t> punya </a:t>
            </a:r>
            <a:r>
              <a:rPr lang="en-US" sz="1200" i="1" dirty="0" err="1"/>
              <a:t>kelas</a:t>
            </a:r>
            <a:r>
              <a:rPr lang="en-US" sz="1200" i="1" dirty="0"/>
              <a:t> </a:t>
            </a:r>
            <a:r>
              <a:rPr lang="en-US" sz="1200" i="1" dirty="0" err="1"/>
              <a:t>tertentu</a:t>
            </a:r>
            <a:endParaRPr lang="en-US" sz="12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3515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5a4e9fac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5a4e9fac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200" i="1" dirty="0" err="1"/>
              <a:t>document.createElement</a:t>
            </a:r>
            <a:r>
              <a:rPr lang="en-US" sz="1200" i="1" dirty="0"/>
              <a:t>() = </a:t>
            </a:r>
          </a:p>
          <a:p>
            <a:pPr marL="0" indent="0">
              <a:buNone/>
            </a:pPr>
            <a:r>
              <a:rPr lang="en-US" sz="1200" i="1" dirty="0" err="1"/>
              <a:t>document.removeChild</a:t>
            </a:r>
            <a:r>
              <a:rPr lang="en-US" sz="1200" i="1" dirty="0"/>
              <a:t>()</a:t>
            </a:r>
          </a:p>
          <a:p>
            <a:pPr marL="0" indent="0">
              <a:buNone/>
            </a:pPr>
            <a:r>
              <a:rPr lang="en-US" sz="1200" i="1" dirty="0" err="1"/>
              <a:t>document.appendChild</a:t>
            </a:r>
            <a:r>
              <a:rPr lang="en-US" sz="1200" i="1" dirty="0"/>
              <a:t>() = </a:t>
            </a:r>
            <a:r>
              <a:rPr lang="en-US" sz="1200" i="1" dirty="0" err="1"/>
              <a:t>simpan</a:t>
            </a:r>
            <a:r>
              <a:rPr lang="en-US" sz="1200" i="1" dirty="0"/>
              <a:t> </a:t>
            </a:r>
            <a:r>
              <a:rPr lang="en-US" sz="1200" i="1" dirty="0" err="1"/>
              <a:t>ke</a:t>
            </a:r>
            <a:r>
              <a:rPr lang="en-US" sz="1200" i="1" dirty="0"/>
              <a:t> </a:t>
            </a:r>
            <a:r>
              <a:rPr lang="en-US" sz="1200" i="1" dirty="0" err="1"/>
              <a:t>akhir</a:t>
            </a:r>
            <a:r>
              <a:rPr lang="en-US" sz="1200" i="1" dirty="0"/>
              <a:t> element</a:t>
            </a:r>
          </a:p>
          <a:p>
            <a:pPr marL="0" indent="0">
              <a:buNone/>
            </a:pPr>
            <a:r>
              <a:rPr lang="en-US" sz="1200" i="1" dirty="0" err="1"/>
              <a:t>document.replaceChild</a:t>
            </a:r>
            <a:r>
              <a:rPr lang="en-US" sz="1200" i="1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1630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f5a4e9fac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f5a4e9fac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1400" b="1" i="1" dirty="0" err="1"/>
              <a:t>parentNode.append</a:t>
            </a:r>
            <a:r>
              <a:rPr lang="en-US" sz="1400" b="1" i="1" dirty="0"/>
              <a:t>() = </a:t>
            </a:r>
            <a:r>
              <a:rPr lang="en-US" sz="1400" b="1" i="1" dirty="0" err="1"/>
              <a:t>menambahkan</a:t>
            </a:r>
            <a:r>
              <a:rPr lang="en-US" sz="1400" b="1" i="1" dirty="0"/>
              <a:t> element </a:t>
            </a:r>
            <a:r>
              <a:rPr lang="en-US" sz="1400" b="1" i="1" dirty="0" err="1"/>
              <a:t>diakhir</a:t>
            </a:r>
            <a:endParaRPr lang="en-US" sz="1400" b="1" i="1" dirty="0"/>
          </a:p>
          <a:p>
            <a:pPr marL="285750" indent="-285750"/>
            <a:r>
              <a:rPr lang="en-US" sz="1200" b="1" i="1" dirty="0" err="1"/>
              <a:t>parentNode.prepend</a:t>
            </a:r>
            <a:r>
              <a:rPr lang="en-US" sz="1200" b="1" i="1" dirty="0"/>
              <a:t>() = </a:t>
            </a:r>
            <a:r>
              <a:rPr lang="en-US" sz="1200" b="1" i="1" dirty="0" err="1"/>
              <a:t>menambahkan</a:t>
            </a:r>
            <a:r>
              <a:rPr lang="en-US" sz="1200" b="1" i="1" dirty="0"/>
              <a:t> element </a:t>
            </a:r>
            <a:r>
              <a:rPr lang="en-US" sz="1200" b="1" i="1" dirty="0" err="1"/>
              <a:t>diawal</a:t>
            </a:r>
            <a:endParaRPr lang="en-US" sz="1200" b="1" i="1" dirty="0"/>
          </a:p>
          <a:p>
            <a:pPr marL="285750" indent="-285750"/>
            <a:r>
              <a:rPr lang="en-US" sz="1200" b="1" i="1" dirty="0" err="1"/>
              <a:t>chileNode.before</a:t>
            </a:r>
            <a:r>
              <a:rPr lang="en-US" sz="1200" b="1" i="1" dirty="0"/>
              <a:t>()</a:t>
            </a:r>
          </a:p>
          <a:p>
            <a:pPr marL="285750" indent="-285750"/>
            <a:r>
              <a:rPr lang="en-US" sz="1200" b="1" i="1" dirty="0" err="1"/>
              <a:t>chileNode.after</a:t>
            </a:r>
            <a:r>
              <a:rPr lang="en-US" sz="1200" b="1" i="1" dirty="0"/>
              <a:t>()</a:t>
            </a:r>
          </a:p>
          <a:p>
            <a:pPr marL="285750" indent="-285750"/>
            <a:r>
              <a:rPr lang="en-US" sz="1200" b="1" i="1" dirty="0" err="1"/>
              <a:t>chileNode.remove</a:t>
            </a:r>
            <a:r>
              <a:rPr lang="en-US" sz="1200" b="1" i="1" dirty="0"/>
              <a:t>()</a:t>
            </a:r>
          </a:p>
          <a:p>
            <a:pPr marL="285750" indent="-285750"/>
            <a:r>
              <a:rPr lang="en-US" sz="1200" b="1" i="1" dirty="0" err="1"/>
              <a:t>chileNode.replaceWith</a:t>
            </a:r>
            <a:r>
              <a:rPr lang="en-US" sz="1200" b="1" i="1" dirty="0"/>
              <a:t>()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23303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f25222c328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f25222c328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8001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203F1F-F4E5-4C24-8AAD-558B39679D5E}" type="slidenum">
              <a:rPr lang="id-ID" smtClean="0"/>
              <a:t>33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840016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cb4021fac0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cb4021fac0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2891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cb4021fac0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cb4021fac0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138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296329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76612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298925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60851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367430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147295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113246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26447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298644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1293923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1118241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8" name="Google Shape;88;p1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5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3007888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4250679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469884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515809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3179258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3869855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273838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3467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20821544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2220746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4" name="Google Shape;154;p23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32489108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174610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15339286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id" smtClean="0"/>
              <a:pPr/>
              <a:t>‹#›</a:t>
            </a:fld>
            <a:endParaRPr lang="id"/>
          </a:p>
        </p:txBody>
      </p:sp>
    </p:spTree>
    <p:extLst>
      <p:ext uri="{BB962C8B-B14F-4D97-AF65-F5344CB8AC3E}">
        <p14:creationId xmlns:p14="http://schemas.microsoft.com/office/powerpoint/2010/main" val="12610394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#interfaces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id"/>
              <a:t>JavaScript</a:t>
            </a:r>
            <a:endParaRPr/>
          </a:p>
          <a:p>
            <a:r>
              <a:rPr lang="id"/>
              <a:t>Document Object Model</a:t>
            </a: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/>
            <a:r>
              <a:rPr lang="id" dirty="0"/>
              <a:t>Lalan Jaelani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A4FB9-153A-C442-8726-44CE716DA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941" y="3982867"/>
            <a:ext cx="2091548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1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13848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Pengenalan</a:t>
            </a:r>
            <a:r>
              <a:rPr lang="en-US" dirty="0"/>
              <a:t> DOM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3067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/>
              <a:t>Pengenalan DOM</a:t>
            </a:r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94729" indent="0">
              <a:buNone/>
            </a:pPr>
            <a:r>
              <a:rPr lang="en-US" sz="1800" dirty="0"/>
              <a:t>“</a:t>
            </a:r>
            <a:r>
              <a:rPr lang="en-US" sz="1800" i="1" dirty="0"/>
              <a:t>DOM </a:t>
            </a:r>
            <a:r>
              <a:rPr lang="en-US" sz="1800" i="1" dirty="0" err="1"/>
              <a:t>adalah</a:t>
            </a:r>
            <a:r>
              <a:rPr lang="en-US" sz="1800" i="1" dirty="0"/>
              <a:t> </a:t>
            </a:r>
            <a:r>
              <a:rPr lang="en-US" sz="1800" i="1" dirty="0" err="1"/>
              <a:t>antarmuka</a:t>
            </a:r>
            <a:r>
              <a:rPr lang="en-US" sz="1800" i="1" dirty="0"/>
              <a:t> </a:t>
            </a:r>
            <a:r>
              <a:rPr lang="en-US" sz="1800" i="1" dirty="0" err="1"/>
              <a:t>pemrograman</a:t>
            </a:r>
            <a:r>
              <a:rPr lang="en-US" sz="1800" i="1" dirty="0"/>
              <a:t> </a:t>
            </a:r>
            <a:r>
              <a:rPr lang="en-US" sz="1800" i="1" dirty="0" err="1"/>
              <a:t>untuk</a:t>
            </a:r>
            <a:r>
              <a:rPr lang="en-US" sz="1800" i="1" dirty="0"/>
              <a:t> HTML yang </a:t>
            </a:r>
            <a:r>
              <a:rPr lang="en-US" sz="1800" i="1" dirty="0" err="1"/>
              <a:t>merepresentasikan</a:t>
            </a:r>
            <a:r>
              <a:rPr lang="en-US" sz="1800" i="1" dirty="0"/>
              <a:t> </a:t>
            </a:r>
            <a:r>
              <a:rPr lang="en-US" sz="1800" i="1" dirty="0" err="1"/>
              <a:t>halaman</a:t>
            </a:r>
            <a:r>
              <a:rPr lang="en-US" sz="1800" i="1" dirty="0"/>
              <a:t> web, </a:t>
            </a:r>
            <a:r>
              <a:rPr lang="en-US" sz="1800" i="1" dirty="0" err="1"/>
              <a:t>sehingga</a:t>
            </a:r>
            <a:r>
              <a:rPr lang="en-US" sz="1800" i="1" dirty="0"/>
              <a:t> program </a:t>
            </a:r>
            <a:r>
              <a:rPr lang="en-US" sz="1800" i="1" dirty="0" err="1"/>
              <a:t>dapat</a:t>
            </a:r>
            <a:r>
              <a:rPr lang="en-US" sz="1800" i="1" dirty="0"/>
              <a:t> </a:t>
            </a:r>
            <a:r>
              <a:rPr lang="en-US" sz="1800" i="1" dirty="0" err="1"/>
              <a:t>mengubah</a:t>
            </a:r>
            <a:r>
              <a:rPr lang="en-US" sz="1800" i="1" dirty="0"/>
              <a:t> dan </a:t>
            </a:r>
            <a:r>
              <a:rPr lang="en-US" sz="1800" i="1" dirty="0" err="1"/>
              <a:t>memanipulasi</a:t>
            </a:r>
            <a:r>
              <a:rPr lang="en-US" sz="1800" i="1" dirty="0"/>
              <a:t> </a:t>
            </a:r>
            <a:r>
              <a:rPr lang="en-US" sz="1800" i="1" dirty="0" err="1"/>
              <a:t>strukturnya</a:t>
            </a:r>
            <a:r>
              <a:rPr lang="en-US" sz="1800" dirty="0"/>
              <a:t>”</a:t>
            </a:r>
            <a:endParaRPr lang="en-US" sz="1800" b="1" dirty="0"/>
          </a:p>
          <a:p>
            <a:pPr marL="194729" indent="0">
              <a:buNone/>
            </a:pPr>
            <a:r>
              <a:rPr lang="en-US" sz="1800" b="1" i="1" dirty="0"/>
              <a:t>-Mozilla</a:t>
            </a:r>
            <a:endParaRPr sz="1800" b="1" i="1" dirty="0"/>
          </a:p>
        </p:txBody>
      </p:sp>
    </p:spTree>
    <p:extLst>
      <p:ext uri="{BB962C8B-B14F-4D97-AF65-F5344CB8AC3E}">
        <p14:creationId xmlns:p14="http://schemas.microsoft.com/office/powerpoint/2010/main" val="196811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/>
              <a:t>Pengenalan DOM</a:t>
            </a:r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sz="1600" dirty="0"/>
              <a:t>Ketika sebuah website di load oleh Browser, maka Browser akan membuat Document Object Model untuk halaman website tersebut</a:t>
            </a:r>
            <a:endParaRPr sz="1600" dirty="0"/>
          </a:p>
          <a:p>
            <a:r>
              <a:rPr lang="id" sz="1600" dirty="0"/>
              <a:t>DOM dibuat dalam bentuk tree / pohon yang tiap cabang nya berisikan object dari jenis elemen HTML</a:t>
            </a:r>
            <a:endParaRPr sz="1600" dirty="0"/>
          </a:p>
          <a:p>
            <a:r>
              <a:rPr lang="id" sz="1600" dirty="0"/>
              <a:t>JavaScript memiliki kemampuan untuk memanipulasi DOM, artinya dengan JavaScript, kita bisa mengakses tiap object di DOM bahkan memanipulasi object nya</a:t>
            </a:r>
          </a:p>
          <a:p>
            <a:pPr marL="194729" indent="0">
              <a:buNone/>
            </a:pPr>
            <a:endParaRPr lang="en-US" sz="1600" dirty="0"/>
          </a:p>
          <a:p>
            <a:pPr marL="194729" indent="0">
              <a:buNone/>
            </a:pPr>
            <a:r>
              <a:rPr lang="en-US" sz="1600" dirty="0"/>
              <a:t>Kesimpulan:</a:t>
            </a:r>
            <a:endParaRPr lang="id" sz="1600" dirty="0"/>
          </a:p>
          <a:p>
            <a:r>
              <a:rPr lang="en-ID" sz="1600" b="1" dirty="0"/>
              <a:t>Cara </a:t>
            </a:r>
            <a:r>
              <a:rPr lang="en-ID" sz="1600" b="1" dirty="0" err="1"/>
              <a:t>javascript</a:t>
            </a:r>
            <a:r>
              <a:rPr lang="en-ID" sz="1600" b="1" dirty="0"/>
              <a:t> </a:t>
            </a:r>
            <a:r>
              <a:rPr lang="en-ID" sz="1600" b="1" dirty="0" err="1"/>
              <a:t>melihat</a:t>
            </a:r>
            <a:r>
              <a:rPr lang="en-ID" sz="1600" b="1" dirty="0"/>
              <a:t> </a:t>
            </a:r>
            <a:r>
              <a:rPr lang="en-ID" sz="1600" b="1" dirty="0" err="1"/>
              <a:t>suatu</a:t>
            </a:r>
            <a:r>
              <a:rPr lang="en-ID" sz="1600" b="1" dirty="0"/>
              <a:t> </a:t>
            </a:r>
            <a:r>
              <a:rPr lang="en-ID" sz="1600" b="1" dirty="0" err="1"/>
              <a:t>halaman</a:t>
            </a:r>
            <a:r>
              <a:rPr lang="en-ID" sz="1600" b="1" dirty="0"/>
              <a:t> html</a:t>
            </a:r>
          </a:p>
          <a:p>
            <a:r>
              <a:rPr lang="en-ID" sz="1600" b="1" dirty="0"/>
              <a:t>JavaScript </a:t>
            </a:r>
            <a:r>
              <a:rPr lang="en-ID" sz="1600" b="1" dirty="0" err="1"/>
              <a:t>dapat</a:t>
            </a:r>
            <a:r>
              <a:rPr lang="en-ID" sz="1600" b="1" dirty="0"/>
              <a:t> </a:t>
            </a:r>
            <a:r>
              <a:rPr lang="en-ID" sz="1600" b="1" dirty="0" err="1"/>
              <a:t>mengakses</a:t>
            </a:r>
            <a:r>
              <a:rPr lang="en-ID" sz="1600" b="1" dirty="0"/>
              <a:t> dan </a:t>
            </a:r>
            <a:r>
              <a:rPr lang="en-ID" sz="1600" b="1" dirty="0" err="1"/>
              <a:t>mengubah</a:t>
            </a:r>
            <a:r>
              <a:rPr lang="en-ID" sz="1600" b="1" dirty="0"/>
              <a:t> </a:t>
            </a:r>
            <a:r>
              <a:rPr lang="en-ID" sz="1600" b="1" dirty="0" err="1"/>
              <a:t>semua</a:t>
            </a:r>
            <a:r>
              <a:rPr lang="en-ID" sz="1600" b="1" dirty="0"/>
              <a:t> </a:t>
            </a:r>
            <a:r>
              <a:rPr lang="en-ID" sz="1600" b="1" dirty="0" err="1"/>
              <a:t>elemen</a:t>
            </a:r>
            <a:r>
              <a:rPr lang="en-ID" sz="1600" b="1" dirty="0"/>
              <a:t> </a:t>
            </a:r>
            <a:r>
              <a:rPr lang="en-ID" sz="1600" b="1" dirty="0" err="1"/>
              <a:t>dari</a:t>
            </a:r>
            <a:r>
              <a:rPr lang="en-ID" sz="1600" b="1" dirty="0"/>
              <a:t> </a:t>
            </a:r>
            <a:r>
              <a:rPr lang="en-ID" sz="1600" b="1" dirty="0" err="1"/>
              <a:t>sebuah</a:t>
            </a:r>
            <a:r>
              <a:rPr lang="en-ID" sz="1600" b="1" dirty="0"/>
              <a:t> </a:t>
            </a:r>
            <a:r>
              <a:rPr lang="en-ID" sz="1600" b="1" dirty="0" err="1"/>
              <a:t>dokumen</a:t>
            </a:r>
            <a:r>
              <a:rPr lang="en-ID" sz="1600" b="1" dirty="0"/>
              <a:t> HTML</a:t>
            </a:r>
          </a:p>
          <a:p>
            <a:pPr marL="194729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771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/>
              <a:t>DOM dan JavaScript</a:t>
            </a:r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sz="1600" dirty="0"/>
              <a:t>DOM bukanlah fitur atau bahasa pemrograman, DOM sebenarnya hanyalah representasi Object dari Struktur halaman web</a:t>
            </a:r>
            <a:endParaRPr sz="1600" dirty="0"/>
          </a:p>
          <a:p>
            <a:r>
              <a:rPr lang="id" sz="1600" dirty="0"/>
              <a:t>DOM sendiri sebenarnya bukanlah bagian dari bahasa pemrograman JavaScript, melainkan bagian dari Web API</a:t>
            </a:r>
            <a:endParaRPr sz="1600" dirty="0"/>
          </a:p>
          <a:p>
            <a:r>
              <a:rPr lang="id" sz="1600" dirty="0"/>
              <a:t>DOM sendiri di desain secara agnostik, artinya sebenarnya bisa digunakan menggunakan bahasa pemrograman apapun, karena memang untuk membuat Web, kita tidak hanya bisa menggunakan bahasa pemrograman JavaScript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6797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 err="1"/>
              <a:t>Apa</a:t>
            </a:r>
            <a:r>
              <a:rPr lang="en-US" dirty="0"/>
              <a:t> Yang Bisa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DOM</a:t>
            </a:r>
            <a:endParaRPr dirty="0"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800" dirty="0" err="1"/>
              <a:t>Mengubah</a:t>
            </a:r>
            <a:r>
              <a:rPr lang="en-US" sz="1800" dirty="0"/>
              <a:t> </a:t>
            </a:r>
            <a:r>
              <a:rPr lang="en-US" sz="1800" dirty="0" err="1"/>
              <a:t>semua</a:t>
            </a:r>
            <a:r>
              <a:rPr lang="en-US" sz="1800" dirty="0"/>
              <a:t> </a:t>
            </a:r>
            <a:r>
              <a:rPr lang="en-US" sz="1800" dirty="0" err="1"/>
              <a:t>elemen</a:t>
            </a:r>
            <a:r>
              <a:rPr lang="en-US" sz="1800" dirty="0"/>
              <a:t> HTML</a:t>
            </a:r>
          </a:p>
          <a:p>
            <a:r>
              <a:rPr lang="en-US" sz="1800" dirty="0" err="1"/>
              <a:t>Mengubah</a:t>
            </a:r>
            <a:r>
              <a:rPr lang="en-US" sz="1800" dirty="0"/>
              <a:t> </a:t>
            </a:r>
            <a:r>
              <a:rPr lang="en-US" sz="1800" dirty="0" err="1"/>
              <a:t>semua</a:t>
            </a:r>
            <a:r>
              <a:rPr lang="en-US" sz="1800" dirty="0"/>
              <a:t> </a:t>
            </a:r>
            <a:r>
              <a:rPr lang="en-US" sz="1800" dirty="0" err="1"/>
              <a:t>atribut</a:t>
            </a:r>
            <a:r>
              <a:rPr lang="en-US" sz="1800" dirty="0"/>
              <a:t> value HTML</a:t>
            </a:r>
          </a:p>
          <a:p>
            <a:r>
              <a:rPr lang="en-US" sz="1800" dirty="0" err="1"/>
              <a:t>Mengubah</a:t>
            </a:r>
            <a:r>
              <a:rPr lang="en-US" sz="1800" dirty="0"/>
              <a:t> </a:t>
            </a:r>
            <a:r>
              <a:rPr lang="en-US" sz="1800" dirty="0" err="1"/>
              <a:t>semua</a:t>
            </a:r>
            <a:r>
              <a:rPr lang="en-US" sz="1800" dirty="0"/>
              <a:t> style CSS</a:t>
            </a:r>
          </a:p>
          <a:p>
            <a:r>
              <a:rPr lang="en-US" sz="1800" dirty="0" err="1"/>
              <a:t>Menghilangkan</a:t>
            </a:r>
            <a:r>
              <a:rPr lang="en-US" sz="1800" dirty="0"/>
              <a:t> </a:t>
            </a:r>
            <a:r>
              <a:rPr lang="en-US" sz="1800" dirty="0" err="1"/>
              <a:t>elemen</a:t>
            </a:r>
            <a:r>
              <a:rPr lang="en-US" sz="1800" dirty="0"/>
              <a:t> dan </a:t>
            </a:r>
            <a:r>
              <a:rPr lang="en-US" sz="1800" dirty="0" err="1"/>
              <a:t>atribut</a:t>
            </a:r>
            <a:r>
              <a:rPr lang="en-US" sz="1800" dirty="0"/>
              <a:t> HTML</a:t>
            </a:r>
          </a:p>
          <a:p>
            <a:r>
              <a:rPr lang="en-US" sz="1800" dirty="0" err="1"/>
              <a:t>Menambahkan</a:t>
            </a:r>
            <a:r>
              <a:rPr lang="en-US" sz="1800" dirty="0"/>
              <a:t> </a:t>
            </a:r>
            <a:r>
              <a:rPr lang="en-US" sz="1800" dirty="0" err="1"/>
              <a:t>elemen</a:t>
            </a:r>
            <a:r>
              <a:rPr lang="en-US" sz="1800" dirty="0"/>
              <a:t> dan </a:t>
            </a:r>
            <a:r>
              <a:rPr lang="en-US" sz="1800" dirty="0" err="1"/>
              <a:t>atribut</a:t>
            </a:r>
            <a:r>
              <a:rPr lang="en-US" sz="1800" dirty="0"/>
              <a:t> HTML</a:t>
            </a:r>
          </a:p>
          <a:p>
            <a:r>
              <a:rPr lang="en-US" sz="1800" dirty="0" err="1"/>
              <a:t>Membuat</a:t>
            </a:r>
            <a:r>
              <a:rPr lang="en-US" sz="1800" dirty="0"/>
              <a:t> event HTML</a:t>
            </a:r>
          </a:p>
          <a:p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428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Document</a:t>
            </a:r>
            <a:endParaRPr dirty="0"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"/>
          </p:nvPr>
        </p:nvSpPr>
        <p:spPr>
          <a:xfrm>
            <a:off x="972600" y="2505075"/>
            <a:ext cx="4556663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	&lt;title&gt;Sample Page&lt;/title&gt;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	&lt;h1&gt;This is Sample Page&lt;/h1&gt;</a:t>
            </a:r>
          </a:p>
          <a:p>
            <a:pPr marL="0" indent="0">
              <a:buNone/>
            </a:pPr>
            <a:r>
              <a:rPr lang="en-US" dirty="0"/>
              <a:t>	&lt;p&gt;This is paragraph&lt;/p&gt;</a:t>
            </a:r>
          </a:p>
          <a:p>
            <a:pPr marL="0" indent="0">
              <a:buNone/>
            </a:pPr>
            <a:r>
              <a:rPr lang="en-US" dirty="0"/>
              <a:t>	&lt;ul&gt;</a:t>
            </a:r>
          </a:p>
          <a:p>
            <a:pPr marL="0" indent="0">
              <a:buNone/>
            </a:pPr>
            <a:r>
              <a:rPr lang="en-US" dirty="0"/>
              <a:t>		&lt;li&gt;Number 1&lt;/li&gt;</a:t>
            </a:r>
          </a:p>
          <a:p>
            <a:pPr marL="0" indent="0">
              <a:buNone/>
            </a:pPr>
            <a:r>
              <a:rPr lang="en-US" dirty="0"/>
              <a:t>		&lt;li&gt;Number 2&lt;/li&gt;</a:t>
            </a:r>
          </a:p>
          <a:p>
            <a:pPr marL="0" indent="0">
              <a:buNone/>
            </a:pPr>
            <a:r>
              <a:rPr lang="en-US" dirty="0"/>
              <a:t>		&lt;li&gt;Number 3&lt;/li&gt;</a:t>
            </a:r>
          </a:p>
          <a:p>
            <a:pPr marL="0" indent="0">
              <a:buNone/>
            </a:pPr>
            <a:r>
              <a:rPr lang="en-US" dirty="0"/>
              <a:t>	&lt;/ul&gt;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194729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29E9C-F947-DA49-AF55-97067CE16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498" y="1514007"/>
            <a:ext cx="6030065" cy="521076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100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OBJECT</a:t>
            </a:r>
            <a:endParaRPr dirty="0"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"/>
          </p:nvPr>
        </p:nvSpPr>
        <p:spPr>
          <a:xfrm>
            <a:off x="972600" y="2505075"/>
            <a:ext cx="4556663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	&lt;title&gt;Sample Page&lt;/title&gt;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	&lt;h1&gt;This is Sample Page&lt;/h1&gt;</a:t>
            </a:r>
          </a:p>
          <a:p>
            <a:pPr marL="0" indent="0">
              <a:buNone/>
            </a:pPr>
            <a:r>
              <a:rPr lang="en-US" dirty="0"/>
              <a:t>	&lt;p&gt;This is paragraph&lt;/p&gt;</a:t>
            </a:r>
          </a:p>
          <a:p>
            <a:pPr marL="0" indent="0">
              <a:buNone/>
            </a:pPr>
            <a:r>
              <a:rPr lang="en-US" dirty="0"/>
              <a:t>	&lt;ul&gt;</a:t>
            </a:r>
          </a:p>
          <a:p>
            <a:pPr marL="0" indent="0">
              <a:buNone/>
            </a:pPr>
            <a:r>
              <a:rPr lang="en-US" dirty="0"/>
              <a:t>		&lt;li&gt;Number 1&lt;/li&gt;</a:t>
            </a:r>
          </a:p>
          <a:p>
            <a:pPr marL="0" indent="0">
              <a:buNone/>
            </a:pPr>
            <a:r>
              <a:rPr lang="en-US" dirty="0"/>
              <a:t>		&lt;li&gt;Number 2&lt;/li&gt;</a:t>
            </a:r>
          </a:p>
          <a:p>
            <a:pPr marL="0" indent="0">
              <a:buNone/>
            </a:pPr>
            <a:r>
              <a:rPr lang="en-US" dirty="0"/>
              <a:t>		&lt;li&gt;Number 3&lt;/li&gt;</a:t>
            </a:r>
          </a:p>
          <a:p>
            <a:pPr marL="0" indent="0">
              <a:buNone/>
            </a:pPr>
            <a:r>
              <a:rPr lang="en-US" dirty="0"/>
              <a:t>	&lt;/ul&gt;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  <a:p>
            <a:pPr marL="194729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29E9C-F947-DA49-AF55-97067CE16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085" y="1758200"/>
            <a:ext cx="5747477" cy="496657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24E47C-CEBA-4D42-B396-EC137C2D6D34}"/>
              </a:ext>
            </a:extLst>
          </p:cNvPr>
          <p:cNvSpPr/>
          <p:nvPr/>
        </p:nvSpPr>
        <p:spPr>
          <a:xfrm>
            <a:off x="1732547" y="3233905"/>
            <a:ext cx="3529264" cy="38501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090A81-FF1F-9547-9E1A-BFAB19582222}"/>
              </a:ext>
            </a:extLst>
          </p:cNvPr>
          <p:cNvSpPr/>
          <p:nvPr/>
        </p:nvSpPr>
        <p:spPr>
          <a:xfrm>
            <a:off x="1564105" y="4029603"/>
            <a:ext cx="3529264" cy="153323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221928-34A6-E549-A34A-1B62F6073100}"/>
              </a:ext>
            </a:extLst>
          </p:cNvPr>
          <p:cNvSpPr/>
          <p:nvPr/>
        </p:nvSpPr>
        <p:spPr>
          <a:xfrm>
            <a:off x="409073" y="2615441"/>
            <a:ext cx="5120190" cy="40386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3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MODEL</a:t>
            </a:r>
            <a:endParaRPr dirty="0"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"/>
          </p:nvPr>
        </p:nvSpPr>
        <p:spPr>
          <a:xfrm>
            <a:off x="717186" y="2505075"/>
            <a:ext cx="4812078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	&lt;title&gt;Sample Page&lt;/title&gt;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	&lt;h1&gt;This is Sample Page&lt;/h1&gt;</a:t>
            </a:r>
          </a:p>
          <a:p>
            <a:pPr marL="0" indent="0">
              <a:buNone/>
            </a:pPr>
            <a:r>
              <a:rPr lang="en-US" dirty="0"/>
              <a:t>	&lt;p&gt;This is paragraph&lt;/p&gt;</a:t>
            </a:r>
          </a:p>
          <a:p>
            <a:pPr marL="0" indent="0">
              <a:buNone/>
            </a:pPr>
            <a:r>
              <a:rPr lang="en-US" dirty="0"/>
              <a:t>	&lt;ul&gt;</a:t>
            </a:r>
          </a:p>
          <a:p>
            <a:pPr marL="0" indent="0">
              <a:buNone/>
            </a:pPr>
            <a:r>
              <a:rPr lang="en-US" dirty="0"/>
              <a:t>		&lt;li&gt;Number 1&lt;/li&gt;</a:t>
            </a:r>
          </a:p>
          <a:p>
            <a:pPr marL="0" indent="0">
              <a:buNone/>
            </a:pPr>
            <a:r>
              <a:rPr lang="en-US" dirty="0"/>
              <a:t>		&lt;li&gt;Number 2&lt;/li&gt;</a:t>
            </a:r>
          </a:p>
          <a:p>
            <a:pPr marL="0" indent="0">
              <a:buNone/>
            </a:pPr>
            <a:r>
              <a:rPr lang="en-US" dirty="0"/>
              <a:t>		&lt;li&gt;Number 3&lt;/li&gt;</a:t>
            </a:r>
          </a:p>
          <a:p>
            <a:pPr marL="0" indent="0">
              <a:buNone/>
            </a:pPr>
            <a:r>
              <a:rPr lang="en-US" dirty="0"/>
              <a:t>	&lt;/ul&gt;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194729" indent="0">
              <a:buNone/>
            </a:pP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437FD9-0822-1544-BFA8-540474EF5545}"/>
              </a:ext>
            </a:extLst>
          </p:cNvPr>
          <p:cNvGrpSpPr/>
          <p:nvPr/>
        </p:nvGrpSpPr>
        <p:grpSpPr>
          <a:xfrm>
            <a:off x="6096000" y="1825625"/>
            <a:ext cx="5241758" cy="3941673"/>
            <a:chOff x="6665494" y="1825625"/>
            <a:chExt cx="5241758" cy="394167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813A3E-0100-694A-8842-33B9EDB3E496}"/>
                </a:ext>
              </a:extLst>
            </p:cNvPr>
            <p:cNvSpPr/>
            <p:nvPr/>
          </p:nvSpPr>
          <p:spPr>
            <a:xfrm>
              <a:off x="8213558" y="1825625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html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8C5CDF-AEE0-0B42-8120-35C9FEAA43FB}"/>
                </a:ext>
              </a:extLst>
            </p:cNvPr>
            <p:cNvSpPr/>
            <p:nvPr/>
          </p:nvSpPr>
          <p:spPr>
            <a:xfrm>
              <a:off x="6665495" y="2860340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head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E27C5A-3B12-B548-BFD5-1E0C46BE4993}"/>
                </a:ext>
              </a:extLst>
            </p:cNvPr>
            <p:cNvSpPr/>
            <p:nvPr/>
          </p:nvSpPr>
          <p:spPr>
            <a:xfrm>
              <a:off x="6665494" y="3854951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title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123D66-D450-9849-940D-F1DC6A338F89}"/>
                </a:ext>
              </a:extLst>
            </p:cNvPr>
            <p:cNvSpPr/>
            <p:nvPr/>
          </p:nvSpPr>
          <p:spPr>
            <a:xfrm>
              <a:off x="9537031" y="2860339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body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B0F807-1F2C-AB46-801B-93AA3B41EA85}"/>
                </a:ext>
              </a:extLst>
            </p:cNvPr>
            <p:cNvSpPr/>
            <p:nvPr/>
          </p:nvSpPr>
          <p:spPr>
            <a:xfrm>
              <a:off x="8213557" y="3854950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EF66416-1C50-B94C-8ABC-77855C002C32}"/>
                </a:ext>
              </a:extLst>
            </p:cNvPr>
            <p:cNvSpPr/>
            <p:nvPr/>
          </p:nvSpPr>
          <p:spPr>
            <a:xfrm>
              <a:off x="9537030" y="3854949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188631-EF19-8740-AAB7-EDFB433E9949}"/>
                </a:ext>
              </a:extLst>
            </p:cNvPr>
            <p:cNvSpPr/>
            <p:nvPr/>
          </p:nvSpPr>
          <p:spPr>
            <a:xfrm>
              <a:off x="10800347" y="3854949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ul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19235D-D128-EC4A-A50A-53A45B09F5BD}"/>
                </a:ext>
              </a:extLst>
            </p:cNvPr>
            <p:cNvSpPr/>
            <p:nvPr/>
          </p:nvSpPr>
          <p:spPr>
            <a:xfrm>
              <a:off x="10800346" y="5090355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li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03AF13F-2E87-7D46-BA69-56C677E318F9}"/>
                </a:ext>
              </a:extLst>
            </p:cNvPr>
            <p:cNvSpPr/>
            <p:nvPr/>
          </p:nvSpPr>
          <p:spPr>
            <a:xfrm>
              <a:off x="9537029" y="5090354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li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4657DD-A5D1-F84C-84D9-2DD21A3D93D2}"/>
                </a:ext>
              </a:extLst>
            </p:cNvPr>
            <p:cNvSpPr/>
            <p:nvPr/>
          </p:nvSpPr>
          <p:spPr>
            <a:xfrm>
              <a:off x="8213557" y="5090354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li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3AE2F4F-AD62-EC4E-AA97-9CC1AF20B3B3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 flipH="1">
              <a:off x="7218948" y="2502568"/>
              <a:ext cx="1548063" cy="357772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7E2CC0-B1DA-2844-BEB6-3C9316B79F0F}"/>
                </a:ext>
              </a:extLst>
            </p:cNvPr>
            <p:cNvCxnSpPr>
              <a:stCxn id="9" idx="0"/>
              <a:endCxn id="6" idx="2"/>
            </p:cNvCxnSpPr>
            <p:nvPr/>
          </p:nvCxnSpPr>
          <p:spPr>
            <a:xfrm flipH="1" flipV="1">
              <a:off x="8767011" y="2502568"/>
              <a:ext cx="1323473" cy="357771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A65ABA4-644C-3947-96D6-9984E78DBC59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flipH="1">
              <a:off x="7218947" y="3537283"/>
              <a:ext cx="1" cy="317668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1537D3-9AD1-A344-8427-977F0C954C40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 flipH="1">
              <a:off x="8767010" y="3537282"/>
              <a:ext cx="1323474" cy="317668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C887CFC-83B1-B244-901C-73BE43B221B2}"/>
                </a:ext>
              </a:extLst>
            </p:cNvPr>
            <p:cNvCxnSpPr>
              <a:stCxn id="11" idx="0"/>
              <a:endCxn id="9" idx="2"/>
            </p:cNvCxnSpPr>
            <p:nvPr/>
          </p:nvCxnSpPr>
          <p:spPr>
            <a:xfrm flipV="1">
              <a:off x="10090483" y="3537282"/>
              <a:ext cx="1" cy="317667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517724-3A6D-7544-86BC-D39B5E00140A}"/>
                </a:ext>
              </a:extLst>
            </p:cNvPr>
            <p:cNvCxnSpPr>
              <a:stCxn id="12" idx="0"/>
              <a:endCxn id="9" idx="2"/>
            </p:cNvCxnSpPr>
            <p:nvPr/>
          </p:nvCxnSpPr>
          <p:spPr>
            <a:xfrm flipH="1" flipV="1">
              <a:off x="10090484" y="3537282"/>
              <a:ext cx="1263316" cy="317667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CD047E7-88BE-7542-B85B-30581275C450}"/>
                </a:ext>
              </a:extLst>
            </p:cNvPr>
            <p:cNvCxnSpPr>
              <a:stCxn id="15" idx="0"/>
              <a:endCxn id="12" idx="2"/>
            </p:cNvCxnSpPr>
            <p:nvPr/>
          </p:nvCxnSpPr>
          <p:spPr>
            <a:xfrm flipV="1">
              <a:off x="8767010" y="4531892"/>
              <a:ext cx="2586790" cy="558462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4A40BCD-DE27-554C-A3E6-0F86E2C37F41}"/>
                </a:ext>
              </a:extLst>
            </p:cNvPr>
            <p:cNvCxnSpPr>
              <a:stCxn id="14" idx="0"/>
              <a:endCxn id="12" idx="2"/>
            </p:cNvCxnSpPr>
            <p:nvPr/>
          </p:nvCxnSpPr>
          <p:spPr>
            <a:xfrm flipV="1">
              <a:off x="10090482" y="4531892"/>
              <a:ext cx="1263318" cy="558462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D8658B-A745-3D40-88A4-D1FC131D4AB9}"/>
                </a:ext>
              </a:extLst>
            </p:cNvPr>
            <p:cNvCxnSpPr>
              <a:stCxn id="13" idx="0"/>
              <a:endCxn id="12" idx="2"/>
            </p:cNvCxnSpPr>
            <p:nvPr/>
          </p:nvCxnSpPr>
          <p:spPr>
            <a:xfrm flipV="1">
              <a:off x="11353799" y="4531892"/>
              <a:ext cx="1" cy="558463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852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 err="1"/>
              <a:t>Refresentasi</a:t>
            </a:r>
            <a:r>
              <a:rPr lang="en-US" dirty="0"/>
              <a:t> DOM</a:t>
            </a:r>
            <a:endParaRPr dirty="0"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"/>
          </p:nvPr>
        </p:nvSpPr>
        <p:spPr>
          <a:xfrm>
            <a:off x="717186" y="2505075"/>
            <a:ext cx="4812078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sz="1800" dirty="0"/>
              <a:t>&lt;p&gt;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paragraph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	&lt;a </a:t>
            </a:r>
            <a:r>
              <a:rPr lang="en-US" sz="1800" dirty="0" err="1"/>
              <a:t>href</a:t>
            </a:r>
            <a:r>
              <a:rPr lang="en-US" sz="1800" dirty="0"/>
              <a:t>=“tes.html”&gt;Link &lt;/a&gt;</a:t>
            </a:r>
          </a:p>
          <a:p>
            <a:pPr marL="0" indent="0">
              <a:buNone/>
            </a:pPr>
            <a:r>
              <a:rPr lang="en-US" sz="1800" dirty="0"/>
              <a:t>	di </a:t>
            </a:r>
            <a:r>
              <a:rPr lang="en-US" sz="1800" dirty="0" err="1"/>
              <a:t>dalamnya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&lt;/p&gt;</a:t>
            </a:r>
          </a:p>
          <a:p>
            <a:pPr marL="194729" indent="0">
              <a:buNone/>
            </a:pPr>
            <a:endParaRPr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0A61D9D-15FE-7E3D-D599-DA87C7559C03}"/>
              </a:ext>
            </a:extLst>
          </p:cNvPr>
          <p:cNvGrpSpPr/>
          <p:nvPr/>
        </p:nvGrpSpPr>
        <p:grpSpPr>
          <a:xfrm>
            <a:off x="5904616" y="1825625"/>
            <a:ext cx="5897524" cy="3375693"/>
            <a:chOff x="5904616" y="1825625"/>
            <a:chExt cx="5897524" cy="337569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DEBDFFD-E4F3-54DB-68A5-5C112EF4D8EA}"/>
                </a:ext>
              </a:extLst>
            </p:cNvPr>
            <p:cNvGrpSpPr/>
            <p:nvPr/>
          </p:nvGrpSpPr>
          <p:grpSpPr>
            <a:xfrm>
              <a:off x="5904616" y="1825625"/>
              <a:ext cx="5897524" cy="3375693"/>
              <a:chOff x="6474110" y="1825625"/>
              <a:chExt cx="5897524" cy="3375693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7DE3BCC-37C2-0DCF-ACF0-FFC3901D8F4F}"/>
                  </a:ext>
                </a:extLst>
              </p:cNvPr>
              <p:cNvSpPr/>
              <p:nvPr/>
            </p:nvSpPr>
            <p:spPr>
              <a:xfrm>
                <a:off x="8213558" y="1825625"/>
                <a:ext cx="1106905" cy="6769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p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473E1B4-8081-324E-001D-F0F886029D0F}"/>
                  </a:ext>
                </a:extLst>
              </p:cNvPr>
              <p:cNvSpPr/>
              <p:nvPr/>
            </p:nvSpPr>
            <p:spPr>
              <a:xfrm>
                <a:off x="6474110" y="3328174"/>
                <a:ext cx="1106905" cy="67694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bg1"/>
                    </a:solidFill>
                  </a:rPr>
                  <a:t>Ini</a:t>
                </a:r>
                <a:r>
                  <a:rPr 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adalah</a:t>
                </a:r>
                <a:r>
                  <a:rPr lang="en-US" sz="1200" dirty="0">
                    <a:solidFill>
                      <a:schemeClr val="bg1"/>
                    </a:solidFill>
                  </a:rPr>
                  <a:t> paragraph </a:t>
                </a:r>
                <a:r>
                  <a:rPr lang="en-US" sz="1200" dirty="0" err="1">
                    <a:solidFill>
                      <a:schemeClr val="bg1"/>
                    </a:solidFill>
                  </a:rPr>
                  <a:t>dengan</a:t>
                </a: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5433C55-B37A-3701-D829-50B4B7E4215F}"/>
                  </a:ext>
                </a:extLst>
              </p:cNvPr>
              <p:cNvSpPr/>
              <p:nvPr/>
            </p:nvSpPr>
            <p:spPr>
              <a:xfrm>
                <a:off x="8200918" y="3328174"/>
                <a:ext cx="1106905" cy="67694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a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D212C51-1CCD-17F5-1A81-E17EC64088DC}"/>
                  </a:ext>
                </a:extLst>
              </p:cNvPr>
              <p:cNvSpPr/>
              <p:nvPr/>
            </p:nvSpPr>
            <p:spPr>
              <a:xfrm>
                <a:off x="8205426" y="4524375"/>
                <a:ext cx="1106905" cy="676943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link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48530EF-5AD2-22C1-6277-D800C4895684}"/>
                  </a:ext>
                </a:extLst>
              </p:cNvPr>
              <p:cNvSpPr/>
              <p:nvPr/>
            </p:nvSpPr>
            <p:spPr>
              <a:xfrm>
                <a:off x="11163811" y="3328174"/>
                <a:ext cx="1207823" cy="67694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</a:rPr>
                  <a:t>di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dalamnya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BC1AFCE-4BC1-1D99-20E9-31F53807FA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06111" y="2892056"/>
                <a:ext cx="4787583" cy="10818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A79DB180-0A3C-C058-2FF2-DC7D138C69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67009" y="2488612"/>
                <a:ext cx="1" cy="403444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4FD66D2-0661-42D5-1811-2FE711B13A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0606" y="2914636"/>
              <a:ext cx="1" cy="403444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301542A-9170-7F0C-ECC3-73BD131F455E}"/>
                </a:ext>
              </a:extLst>
            </p:cNvPr>
            <p:cNvSpPr/>
            <p:nvPr/>
          </p:nvSpPr>
          <p:spPr>
            <a:xfrm>
              <a:off x="9169556" y="3360627"/>
              <a:ext cx="918229" cy="64449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href</a:t>
              </a:r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DC646B2-5625-7507-3003-1F17F94F9E76}"/>
                </a:ext>
              </a:extLst>
            </p:cNvPr>
            <p:cNvSpPr/>
            <p:nvPr/>
          </p:nvSpPr>
          <p:spPr>
            <a:xfrm>
              <a:off x="9074869" y="4524374"/>
              <a:ext cx="1106905" cy="67694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tes.html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3ECF4AC-EA9D-9ABB-90EF-DE045AC15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7703" y="2892056"/>
              <a:ext cx="1" cy="403444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626934E-3480-9246-72AD-FFF2288138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19494" y="2882198"/>
              <a:ext cx="1" cy="403444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C083456-FBB8-074D-CD74-8EFFCEFD3AF4}"/>
                </a:ext>
              </a:extLst>
            </p:cNvPr>
            <p:cNvCxnSpPr>
              <a:cxnSpLocks/>
            </p:cNvCxnSpPr>
            <p:nvPr/>
          </p:nvCxnSpPr>
          <p:spPr>
            <a:xfrm>
              <a:off x="8738329" y="3692445"/>
              <a:ext cx="426522" cy="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0371A54-D588-81C9-0D34-B25271476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14960" y="4014967"/>
              <a:ext cx="0" cy="514504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5253908-1D7F-1A34-CF02-8B45AA57A5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3110" y="4007873"/>
              <a:ext cx="0" cy="514504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0BC787C-AD9C-533C-3C96-205E54A3704F}"/>
              </a:ext>
            </a:extLst>
          </p:cNvPr>
          <p:cNvGrpSpPr/>
          <p:nvPr/>
        </p:nvGrpSpPr>
        <p:grpSpPr>
          <a:xfrm>
            <a:off x="4514243" y="3666647"/>
            <a:ext cx="1508244" cy="1327293"/>
            <a:chOff x="4514243" y="3666647"/>
            <a:chExt cx="1508244" cy="1327293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A4ABEAD-951E-BC1A-1C49-8E2F846F08D6}"/>
                </a:ext>
              </a:extLst>
            </p:cNvPr>
            <p:cNvSpPr/>
            <p:nvPr/>
          </p:nvSpPr>
          <p:spPr>
            <a:xfrm>
              <a:off x="4514243" y="4593263"/>
              <a:ext cx="1508244" cy="4006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rgbClr val="C00000"/>
                  </a:solidFill>
                </a:rPr>
                <a:t>simpul</a:t>
              </a:r>
              <a:r>
                <a:rPr lang="en-US" dirty="0">
                  <a:solidFill>
                    <a:srgbClr val="C00000"/>
                  </a:solidFill>
                </a:rPr>
                <a:t>/node</a:t>
              </a:r>
            </a:p>
          </p:txBody>
        </p:sp>
        <p:cxnSp>
          <p:nvCxnSpPr>
            <p:cNvPr id="59" name="Connector: Curved 58">
              <a:extLst>
                <a:ext uri="{FF2B5EF4-FFF2-40B4-BE49-F238E27FC236}">
                  <a16:creationId xmlns:a16="http://schemas.microsoft.com/office/drawing/2014/main" id="{CF017C59-F7CD-80BD-871F-FF6DAF15A304}"/>
                </a:ext>
              </a:extLst>
            </p:cNvPr>
            <p:cNvCxnSpPr>
              <a:cxnSpLocks/>
              <a:stCxn id="57" idx="0"/>
              <a:endCxn id="4" idx="1"/>
            </p:cNvCxnSpPr>
            <p:nvPr/>
          </p:nvCxnSpPr>
          <p:spPr>
            <a:xfrm rot="5400000" flipH="1" flipV="1">
              <a:off x="5123182" y="3811830"/>
              <a:ext cx="926617" cy="636251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132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Diagram DOM</a:t>
            </a:r>
            <a:r>
              <a:rPr lang="en-US" dirty="0"/>
              <a:t> (DOM TREE)</a:t>
            </a:r>
            <a:endParaRPr dirty="0"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4106" y="2374491"/>
            <a:ext cx="6172200" cy="33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7186" y="2505075"/>
            <a:ext cx="4812078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	&lt;title&gt;</a:t>
            </a:r>
            <a:r>
              <a:rPr lang="en-US"/>
              <a:t>My title&lt;/</a:t>
            </a:r>
            <a:r>
              <a:rPr lang="en-US" dirty="0"/>
              <a:t>title&gt;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	&lt;a </a:t>
            </a:r>
            <a:r>
              <a:rPr lang="en-US" dirty="0" err="1"/>
              <a:t>href</a:t>
            </a:r>
            <a:r>
              <a:rPr lang="en-US" dirty="0"/>
              <a:t>=“#”&gt;My Link&lt;/a&gt;</a:t>
            </a:r>
          </a:p>
          <a:p>
            <a:pPr marL="0" indent="0">
              <a:buNone/>
            </a:pPr>
            <a:r>
              <a:rPr lang="en-US" dirty="0"/>
              <a:t>	&lt;h1&gt;My header&lt;/h1&gt;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194729" indent="0">
              <a:buNone/>
            </a:pPr>
            <a:endParaRPr lang="en-US" dirty="0"/>
          </a:p>
          <a:p>
            <a:pPr marL="194729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603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DOM Tree</a:t>
            </a:r>
            <a:endParaRPr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BA9519-2B22-6EC1-FC42-08B5D0C52268}"/>
              </a:ext>
            </a:extLst>
          </p:cNvPr>
          <p:cNvGrpSpPr/>
          <p:nvPr/>
        </p:nvGrpSpPr>
        <p:grpSpPr>
          <a:xfrm>
            <a:off x="4136069" y="2456122"/>
            <a:ext cx="3405963" cy="2663457"/>
            <a:chOff x="2690037" y="2977117"/>
            <a:chExt cx="3405963" cy="266345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EFB57A-BE4B-B379-9B9A-041C5EAE2032}"/>
                </a:ext>
              </a:extLst>
            </p:cNvPr>
            <p:cNvSpPr/>
            <p:nvPr/>
          </p:nvSpPr>
          <p:spPr>
            <a:xfrm>
              <a:off x="2690037" y="2977117"/>
              <a:ext cx="1584251" cy="4518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</a:rPr>
                <a:t>window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BCF2B7-F1DA-E226-5B57-B9DB181C99CA}"/>
                </a:ext>
              </a:extLst>
            </p:cNvPr>
            <p:cNvSpPr/>
            <p:nvPr/>
          </p:nvSpPr>
          <p:spPr>
            <a:xfrm>
              <a:off x="4511749" y="3756838"/>
              <a:ext cx="1584251" cy="4518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</a:rPr>
                <a:t>document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F24D3F-8989-5793-32C1-39DDC0BCFB36}"/>
                </a:ext>
              </a:extLst>
            </p:cNvPr>
            <p:cNvSpPr/>
            <p:nvPr/>
          </p:nvSpPr>
          <p:spPr>
            <a:xfrm>
              <a:off x="4511748" y="4472764"/>
              <a:ext cx="1584251" cy="4518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</a:rPr>
                <a:t>history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B92E4F-C21C-5A61-7647-F570716D4D83}"/>
                </a:ext>
              </a:extLst>
            </p:cNvPr>
            <p:cNvSpPr/>
            <p:nvPr/>
          </p:nvSpPr>
          <p:spPr>
            <a:xfrm>
              <a:off x="4511749" y="5188690"/>
              <a:ext cx="1584251" cy="4518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/>
                  </a:solidFill>
                </a:rPr>
                <a:t>location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39A38AE-29DC-5A80-0127-971B2A0D20DE}"/>
                </a:ext>
              </a:extLst>
            </p:cNvPr>
            <p:cNvGrpSpPr/>
            <p:nvPr/>
          </p:nvGrpSpPr>
          <p:grpSpPr>
            <a:xfrm>
              <a:off x="3464442" y="3429001"/>
              <a:ext cx="1047307" cy="1982088"/>
              <a:chOff x="3464442" y="3429001"/>
              <a:chExt cx="1047307" cy="1982088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E45EE3E-AA62-8EB6-A9F5-62F810595D7E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>
              <a:xfrm>
                <a:off x="3482163" y="3429001"/>
                <a:ext cx="0" cy="1982088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7D93DF4-6904-967A-BE49-76B1F6A8A337}"/>
                  </a:ext>
                </a:extLst>
              </p:cNvPr>
              <p:cNvCxnSpPr>
                <a:endCxn id="6" idx="1"/>
              </p:cNvCxnSpPr>
              <p:nvPr/>
            </p:nvCxnSpPr>
            <p:spPr>
              <a:xfrm>
                <a:off x="3482162" y="3982780"/>
                <a:ext cx="102958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26238541-D53A-1CA5-5C68-23F1D9ECC71D}"/>
                  </a:ext>
                </a:extLst>
              </p:cNvPr>
              <p:cNvCxnSpPr/>
              <p:nvPr/>
            </p:nvCxnSpPr>
            <p:spPr>
              <a:xfrm>
                <a:off x="3464442" y="4666814"/>
                <a:ext cx="102958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4FC8505-89F8-4CC9-8BA9-2DDBDB60C4D8}"/>
                  </a:ext>
                </a:extLst>
              </p:cNvPr>
              <p:cNvCxnSpPr/>
              <p:nvPr/>
            </p:nvCxnSpPr>
            <p:spPr>
              <a:xfrm>
                <a:off x="3475073" y="5411089"/>
                <a:ext cx="102958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4436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DOM</a:t>
            </a:r>
            <a:endParaRPr dirty="0"/>
          </a:p>
        </p:txBody>
      </p:sp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835" y="2347891"/>
            <a:ext cx="11396497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2438" indent="-258763"/>
            <a:r>
              <a:rPr lang="en-US" sz="1600" dirty="0" err="1"/>
              <a:t>Antarmuka</a:t>
            </a:r>
            <a:r>
              <a:rPr lang="en-US" sz="1600" dirty="0"/>
              <a:t> </a:t>
            </a:r>
            <a:r>
              <a:rPr lang="en-US" sz="1600" dirty="0" err="1"/>
              <a:t>pemrograman</a:t>
            </a:r>
            <a:r>
              <a:rPr lang="en-US" sz="1600" dirty="0"/>
              <a:t> </a:t>
            </a:r>
            <a:r>
              <a:rPr lang="en-US" sz="1600" dirty="0" err="1"/>
              <a:t>berbasis</a:t>
            </a:r>
            <a:r>
              <a:rPr lang="en-US" sz="1600" dirty="0"/>
              <a:t> </a:t>
            </a:r>
            <a:r>
              <a:rPr lang="en-US" sz="1600" dirty="0" err="1"/>
              <a:t>objek</a:t>
            </a:r>
            <a:r>
              <a:rPr lang="en-US" sz="1600" dirty="0"/>
              <a:t> yang </a:t>
            </a:r>
            <a:r>
              <a:rPr lang="en-US" sz="1600" dirty="0" err="1"/>
              <a:t>merefresentasikan</a:t>
            </a:r>
            <a:r>
              <a:rPr lang="en-US" sz="1600" dirty="0"/>
              <a:t> </a:t>
            </a:r>
            <a:r>
              <a:rPr lang="en-US" sz="1600" dirty="0" err="1"/>
              <a:t>dokumen</a:t>
            </a:r>
            <a:r>
              <a:rPr lang="en-US" sz="1600" dirty="0"/>
              <a:t> web</a:t>
            </a:r>
          </a:p>
          <a:p>
            <a:pPr marL="452438" indent="-258763"/>
            <a:r>
              <a:rPr lang="en-US" sz="1600" dirty="0"/>
              <a:t>DOM </a:t>
            </a:r>
            <a:r>
              <a:rPr lang="en-US" sz="1600" dirty="0" err="1"/>
              <a:t>membuat</a:t>
            </a:r>
            <a:r>
              <a:rPr lang="en-US" sz="1600" dirty="0"/>
              <a:t> </a:t>
            </a:r>
            <a:r>
              <a:rPr lang="en-US" sz="1600" dirty="0" err="1"/>
              <a:t>seluruh</a:t>
            </a:r>
            <a:r>
              <a:rPr lang="en-US" sz="1600" dirty="0"/>
              <a:t> </a:t>
            </a:r>
            <a:r>
              <a:rPr lang="en-US" sz="1600" dirty="0" err="1"/>
              <a:t>komponen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halaman</a:t>
            </a:r>
            <a:r>
              <a:rPr lang="en-US" sz="1600" dirty="0"/>
              <a:t> web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diakses</a:t>
            </a:r>
            <a:r>
              <a:rPr lang="en-US" sz="1600" dirty="0"/>
              <a:t> dan </a:t>
            </a:r>
            <a:r>
              <a:rPr lang="en-US" sz="1600" dirty="0" err="1"/>
              <a:t>dimanipulasi</a:t>
            </a:r>
            <a:endParaRPr lang="en-US" sz="1600" dirty="0"/>
          </a:p>
          <a:p>
            <a:pPr marL="452438" indent="-258763"/>
            <a:r>
              <a:rPr lang="en-US" sz="1600" dirty="0" err="1"/>
              <a:t>Komponen</a:t>
            </a:r>
            <a:endParaRPr lang="en-US" sz="1600" dirty="0"/>
          </a:p>
          <a:p>
            <a:pPr marL="914400" indent="-258763"/>
            <a:r>
              <a:rPr lang="en-US" sz="1600" dirty="0"/>
              <a:t>Element html</a:t>
            </a:r>
          </a:p>
          <a:p>
            <a:pPr marL="914400" indent="-258763"/>
            <a:r>
              <a:rPr lang="en-US" sz="1600" dirty="0"/>
              <a:t>Attribute</a:t>
            </a:r>
          </a:p>
          <a:p>
            <a:pPr marL="914400" indent="-258763"/>
            <a:r>
              <a:rPr lang="en-US" sz="1600" dirty="0"/>
              <a:t>Text</a:t>
            </a:r>
          </a:p>
          <a:p>
            <a:pPr marL="914400" indent="-258763"/>
            <a:r>
              <a:rPr lang="en-US" sz="1600" dirty="0" err="1"/>
              <a:t>dll</a:t>
            </a:r>
            <a:endParaRPr lang="en-US" sz="1600" dirty="0"/>
          </a:p>
          <a:p>
            <a:pPr marL="452438" indent="-258763"/>
            <a:r>
              <a:rPr lang="en-US" sz="1600" dirty="0"/>
              <a:t>DOM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dimanipulasi</a:t>
            </a:r>
            <a:r>
              <a:rPr lang="en-US" sz="1600" dirty="0"/>
              <a:t> (</a:t>
            </a:r>
            <a:r>
              <a:rPr lang="en-US" sz="1600" dirty="0" err="1"/>
              <a:t>dibuat</a:t>
            </a:r>
            <a:r>
              <a:rPr lang="en-US" sz="1600" dirty="0"/>
              <a:t>, </a:t>
            </a:r>
            <a:r>
              <a:rPr lang="en-US" sz="1600" dirty="0" err="1"/>
              <a:t>diubah</a:t>
            </a:r>
            <a:r>
              <a:rPr lang="en-US" sz="1600" dirty="0"/>
              <a:t>, </a:t>
            </a:r>
            <a:r>
              <a:rPr lang="en-US" sz="1600" dirty="0" err="1"/>
              <a:t>dihapus</a:t>
            </a:r>
            <a:r>
              <a:rPr lang="en-US" sz="1600" dirty="0"/>
              <a:t>)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javascript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17031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DOM JAVASCRIPT</a:t>
            </a:r>
            <a:endParaRPr dirty="0"/>
          </a:p>
        </p:txBody>
      </p:sp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835" y="2347891"/>
            <a:ext cx="11396497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2438" indent="-258763"/>
            <a:r>
              <a:rPr lang="en-US" sz="1600" dirty="0"/>
              <a:t>DOM Selection</a:t>
            </a:r>
          </a:p>
          <a:p>
            <a:pPr marL="452438" indent="-258763"/>
            <a:r>
              <a:rPr lang="en-US" sz="1600" dirty="0"/>
              <a:t>DOM Manipulation</a:t>
            </a:r>
          </a:p>
          <a:p>
            <a:pPr marL="452438" indent="-258763"/>
            <a:r>
              <a:rPr lang="en-US" sz="1600" dirty="0"/>
              <a:t>DOM Traversal</a:t>
            </a:r>
          </a:p>
          <a:p>
            <a:pPr marL="452438" indent="-258763"/>
            <a:r>
              <a:rPr lang="en-US" sz="1600" dirty="0"/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333141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/>
              <a:t>Tipe Data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4885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/>
              <a:t>Tipe Data</a:t>
            </a:r>
            <a:endParaRPr/>
          </a:p>
        </p:txBody>
      </p:sp>
      <p:sp>
        <p:nvSpPr>
          <p:cNvPr id="234" name="Google Shape;234;p37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/>
              <a:t>DOM memiliki representasi data</a:t>
            </a:r>
            <a:endParaRPr/>
          </a:p>
          <a:p>
            <a:r>
              <a:rPr lang="id"/>
              <a:t>Tidak terlalu banyak tipe data yang terdapat di DOM</a:t>
            </a:r>
            <a:endParaRPr/>
          </a:p>
          <a:p>
            <a:r>
              <a:rPr lang="id"/>
              <a:t>Oleh karena itu, sebenarnya DOM sangat sederhana, namun penggunaannya sangat bermanfaat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0822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Google Shape;239;p38"/>
          <p:cNvGraphicFramePr/>
          <p:nvPr>
            <p:extLst>
              <p:ext uri="{D42A27DB-BD31-4B8C-83A1-F6EECF244321}">
                <p14:modId xmlns:p14="http://schemas.microsoft.com/office/powerpoint/2010/main" val="1728130483"/>
              </p:ext>
            </p:extLst>
          </p:nvPr>
        </p:nvGraphicFramePr>
        <p:xfrm>
          <a:off x="1270000" y="1829600"/>
          <a:ext cx="10251440" cy="48250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71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9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8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 dirty="0">
                          <a:solidFill>
                            <a:schemeClr val="bg2"/>
                          </a:solidFill>
                        </a:rPr>
                        <a:t>Tipe Data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Keterangan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8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Document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 dirty="0">
                          <a:solidFill>
                            <a:schemeClr val="bg2"/>
                          </a:solidFill>
                        </a:rPr>
                        <a:t>Merupakan representasi dari halaman web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5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Node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Merupakan base class untuk semua tipe data di DOM, seperti Document, Element, dan Attr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33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 dirty="0">
                          <a:solidFill>
                            <a:schemeClr val="bg2"/>
                          </a:solidFill>
                        </a:rPr>
                        <a:t>Element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Merupakan representasi object element di halaman web, misal head, body, form, input, dan lain-lain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8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NodeList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Merupakan array/collection yang berisikan Node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55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Attr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Atau attribute, merupakan representasi object attribute dalam element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0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>
                          <a:solidFill>
                            <a:schemeClr val="bg2"/>
                          </a:solidFill>
                        </a:rPr>
                        <a:t>NamedNodeMap</a:t>
                      </a:r>
                      <a:endParaRPr sz="200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 dirty="0">
                          <a:solidFill>
                            <a:schemeClr val="bg2"/>
                          </a:solidFill>
                        </a:rPr>
                        <a:t>Merupakan collection yang berisikan Attr dalam bentuk Map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066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DOM DATA TYPE</a:t>
            </a:r>
            <a:endParaRPr dirty="0"/>
          </a:p>
        </p:txBody>
      </p:sp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836" y="2347891"/>
            <a:ext cx="4812078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2438" indent="-258763"/>
            <a:r>
              <a:rPr lang="en-US" sz="1600" dirty="0"/>
              <a:t>Document</a:t>
            </a:r>
          </a:p>
          <a:p>
            <a:pPr marL="452438" indent="-258763"/>
            <a:r>
              <a:rPr lang="en-US" sz="1600" dirty="0"/>
              <a:t>Element</a:t>
            </a:r>
          </a:p>
          <a:p>
            <a:pPr marL="452438" indent="-258763"/>
            <a:r>
              <a:rPr lang="en-US" sz="1600" dirty="0"/>
              <a:t>Text</a:t>
            </a:r>
          </a:p>
          <a:p>
            <a:pPr marL="193675" indent="0">
              <a:buNone/>
            </a:pPr>
            <a:endParaRPr lang="en-US" sz="1600" dirty="0"/>
          </a:p>
          <a:p>
            <a:pPr marL="194729" indent="0">
              <a:buNone/>
            </a:pPr>
            <a:endParaRPr sz="1600" dirty="0"/>
          </a:p>
        </p:txBody>
      </p:sp>
      <p:pic>
        <p:nvPicPr>
          <p:cNvPr id="2" name="Google Shape;206;p32">
            <a:extLst>
              <a:ext uri="{FF2B5EF4-FFF2-40B4-BE49-F238E27FC236}">
                <a16:creationId xmlns:a16="http://schemas.microsoft.com/office/drawing/2014/main" id="{4502E661-9C2F-5BB0-8838-A8E17C55BB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383" y="1434596"/>
            <a:ext cx="7732417" cy="46748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502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13848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 err="1"/>
              <a:t>NodeList</a:t>
            </a:r>
            <a:r>
              <a:rPr lang="en-US" dirty="0"/>
              <a:t> vs </a:t>
            </a:r>
            <a:r>
              <a:rPr lang="en-US" dirty="0" err="1"/>
              <a:t>HTMLCollection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2750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6;p32">
            <a:extLst>
              <a:ext uri="{FF2B5EF4-FFF2-40B4-BE49-F238E27FC236}">
                <a16:creationId xmlns:a16="http://schemas.microsoft.com/office/drawing/2014/main" id="{3BD8913E-2AF0-251C-11E1-3286DFC59F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619" y="1883986"/>
            <a:ext cx="7732417" cy="4674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NodeList vs HTMLCollection</a:t>
            </a:r>
            <a:endParaRPr dirty="0"/>
          </a:p>
        </p:txBody>
      </p:sp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7186" y="2505075"/>
            <a:ext cx="4812078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94729" indent="0">
              <a:buNone/>
            </a:pPr>
            <a:r>
              <a:rPr lang="en-US" sz="1600" dirty="0"/>
              <a:t>Node </a:t>
            </a:r>
            <a:r>
              <a:rPr lang="en-US" sz="1600" dirty="0" err="1"/>
              <a:t>adalah</a:t>
            </a:r>
            <a:r>
              <a:rPr lang="en-US" sz="1600" dirty="0"/>
              <a:t> salah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simpul</a:t>
            </a:r>
            <a:r>
              <a:rPr lang="en-US" sz="1600" dirty="0"/>
              <a:t> yang </a:t>
            </a:r>
            <a:r>
              <a:rPr lang="en-US" sz="1600" dirty="0" err="1"/>
              <a:t>dipilih</a:t>
            </a:r>
            <a:endParaRPr sz="1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F549F9-62E9-88C2-EE4A-5BBF676A67A1}"/>
              </a:ext>
            </a:extLst>
          </p:cNvPr>
          <p:cNvGrpSpPr/>
          <p:nvPr/>
        </p:nvGrpSpPr>
        <p:grpSpPr>
          <a:xfrm>
            <a:off x="5932967" y="3852102"/>
            <a:ext cx="1954252" cy="1804418"/>
            <a:chOff x="5932967" y="3852102"/>
            <a:chExt cx="1954252" cy="180441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0E751A-D48E-4D71-2A7C-9292CCBFEA9F}"/>
                </a:ext>
              </a:extLst>
            </p:cNvPr>
            <p:cNvSpPr/>
            <p:nvPr/>
          </p:nvSpPr>
          <p:spPr>
            <a:xfrm>
              <a:off x="5932967" y="4609435"/>
              <a:ext cx="1913861" cy="10470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67CBDA-D7F2-E658-9469-3A64DD3D77E8}"/>
                </a:ext>
              </a:extLst>
            </p:cNvPr>
            <p:cNvSpPr txBox="1"/>
            <p:nvPr/>
          </p:nvSpPr>
          <p:spPr>
            <a:xfrm>
              <a:off x="6951554" y="3852102"/>
              <a:ext cx="935665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node</a:t>
              </a:r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F1E2EDE3-C49C-B22D-93CE-9AA9DCF640DE}"/>
                </a:ext>
              </a:extLst>
            </p:cNvPr>
            <p:cNvCxnSpPr/>
            <p:nvPr/>
          </p:nvCxnSpPr>
          <p:spPr>
            <a:xfrm flipV="1">
              <a:off x="6315740" y="4036768"/>
              <a:ext cx="574157" cy="572667"/>
            </a:xfrm>
            <a:prstGeom prst="curved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6043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06;p32">
            <a:extLst>
              <a:ext uri="{FF2B5EF4-FFF2-40B4-BE49-F238E27FC236}">
                <a16:creationId xmlns:a16="http://schemas.microsoft.com/office/drawing/2014/main" id="{A8CC1108-96C0-A686-31AD-274D8121DF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619" y="1434596"/>
            <a:ext cx="7732417" cy="4674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NodeList vs HTMLCollection</a:t>
            </a:r>
            <a:endParaRPr dirty="0"/>
          </a:p>
        </p:txBody>
      </p:sp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7186" y="1959646"/>
            <a:ext cx="4812078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NodeList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jika</a:t>
            </a:r>
            <a:r>
              <a:rPr lang="en-US" sz="1600" dirty="0"/>
              <a:t> yang </a:t>
            </a:r>
            <a:r>
              <a:rPr lang="en-US" sz="1600" dirty="0" err="1"/>
              <a:t>dipilih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node dan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memperdulikan</a:t>
            </a:r>
            <a:r>
              <a:rPr lang="en-US" sz="1600" dirty="0"/>
              <a:t> </a:t>
            </a:r>
            <a:r>
              <a:rPr lang="en-US" sz="1600" dirty="0" err="1"/>
              <a:t>tipe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node yang </a:t>
            </a:r>
            <a:r>
              <a:rPr lang="en-US" sz="1600" dirty="0" err="1"/>
              <a:t>dipilih</a:t>
            </a:r>
            <a:endParaRPr sz="1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AA534F-D17A-2A40-672F-F96C0E1312C1}"/>
              </a:ext>
            </a:extLst>
          </p:cNvPr>
          <p:cNvGrpSpPr/>
          <p:nvPr/>
        </p:nvGrpSpPr>
        <p:grpSpPr>
          <a:xfrm>
            <a:off x="5892575" y="3445170"/>
            <a:ext cx="5820461" cy="2664321"/>
            <a:chOff x="5932967" y="3852102"/>
            <a:chExt cx="5820461" cy="266432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AFA51B-8729-BE9C-A692-FB03969409F5}"/>
                </a:ext>
              </a:extLst>
            </p:cNvPr>
            <p:cNvSpPr/>
            <p:nvPr/>
          </p:nvSpPr>
          <p:spPr>
            <a:xfrm>
              <a:off x="5932967" y="4609435"/>
              <a:ext cx="5820461" cy="190698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723ED7-7172-3178-25B4-1AAF15C7B0E9}"/>
                </a:ext>
              </a:extLst>
            </p:cNvPr>
            <p:cNvSpPr txBox="1"/>
            <p:nvPr/>
          </p:nvSpPr>
          <p:spPr>
            <a:xfrm>
              <a:off x="6951554" y="3852102"/>
              <a:ext cx="1628521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NodeList</a:t>
              </a:r>
              <a:endParaRPr lang="en-US" b="1" dirty="0"/>
            </a:p>
          </p:txBody>
        </p: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7CB2C00E-D04C-9344-4CD7-68B9E8024F20}"/>
                </a:ext>
              </a:extLst>
            </p:cNvPr>
            <p:cNvCxnSpPr/>
            <p:nvPr/>
          </p:nvCxnSpPr>
          <p:spPr>
            <a:xfrm flipV="1">
              <a:off x="6315740" y="4036768"/>
              <a:ext cx="574157" cy="572667"/>
            </a:xfrm>
            <a:prstGeom prst="curved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6700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6;p32">
            <a:extLst>
              <a:ext uri="{FF2B5EF4-FFF2-40B4-BE49-F238E27FC236}">
                <a16:creationId xmlns:a16="http://schemas.microsoft.com/office/drawing/2014/main" id="{E38647BF-5563-BB8A-7771-D49D33BFBC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619" y="1434596"/>
            <a:ext cx="7732417" cy="4674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NodeList vs HTMLCollection</a:t>
            </a:r>
            <a:endParaRPr dirty="0"/>
          </a:p>
        </p:txBody>
      </p:sp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7186" y="2505075"/>
            <a:ext cx="4812078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/>
              <a:t>HTMLCollection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kumpulan</a:t>
            </a:r>
            <a:r>
              <a:rPr lang="en-US" sz="1600" dirty="0"/>
              <a:t> node yang </a:t>
            </a:r>
            <a:r>
              <a:rPr lang="en-US" sz="1600" dirty="0" err="1"/>
              <a:t>tipenya</a:t>
            </a:r>
            <a:r>
              <a:rPr lang="en-US" sz="1600" dirty="0"/>
              <a:t> </a:t>
            </a:r>
            <a:r>
              <a:rPr lang="en-US" sz="1600" dirty="0" err="1"/>
              <a:t>kumpulan</a:t>
            </a:r>
            <a:r>
              <a:rPr lang="en-US" sz="1600" dirty="0"/>
              <a:t> element html </a:t>
            </a:r>
            <a:r>
              <a:rPr lang="en-US" sz="1600" dirty="0" err="1"/>
              <a:t>saja</a:t>
            </a:r>
            <a:endParaRPr lang="en-US" sz="1600" dirty="0"/>
          </a:p>
          <a:p>
            <a:pPr marL="194729" indent="0">
              <a:buNone/>
            </a:pPr>
            <a:endParaRPr sz="1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0C810A-1B6B-E0AE-A880-2AE5A0F528FE}"/>
              </a:ext>
            </a:extLst>
          </p:cNvPr>
          <p:cNvGrpSpPr/>
          <p:nvPr/>
        </p:nvGrpSpPr>
        <p:grpSpPr>
          <a:xfrm>
            <a:off x="6315740" y="3445171"/>
            <a:ext cx="5397296" cy="1658457"/>
            <a:chOff x="6356132" y="3852103"/>
            <a:chExt cx="5397296" cy="16584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3B27EB-A9E3-EBA9-6246-EBB0B834A91A}"/>
                </a:ext>
              </a:extLst>
            </p:cNvPr>
            <p:cNvSpPr/>
            <p:nvPr/>
          </p:nvSpPr>
          <p:spPr>
            <a:xfrm>
              <a:off x="7972280" y="4609435"/>
              <a:ext cx="3781148" cy="9011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C21F0D-5DD5-2203-E8FA-E84151556E2D}"/>
                </a:ext>
              </a:extLst>
            </p:cNvPr>
            <p:cNvSpPr txBox="1"/>
            <p:nvPr/>
          </p:nvSpPr>
          <p:spPr>
            <a:xfrm>
              <a:off x="6356132" y="3852103"/>
              <a:ext cx="2223943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HTML collection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84DD8988-BAA4-D71D-D2EC-CEE6E927A2D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272265" y="4301627"/>
              <a:ext cx="369333" cy="246288"/>
            </a:xfrm>
            <a:prstGeom prst="curved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54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NodeList vs HTMLCollection</a:t>
            </a:r>
            <a:endParaRPr dirty="0"/>
          </a:p>
        </p:txBody>
      </p:sp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835" y="2347891"/>
            <a:ext cx="11556027" cy="4038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2438" indent="-258763"/>
            <a:r>
              <a:rPr lang="en-US" sz="1600" dirty="0" err="1"/>
              <a:t>Keduannya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b="1" dirty="0" err="1"/>
              <a:t>kumpulan</a:t>
            </a:r>
            <a:r>
              <a:rPr lang="en-US" sz="1600" b="1" dirty="0"/>
              <a:t> node</a:t>
            </a:r>
          </a:p>
          <a:p>
            <a:pPr marL="452438" indent="-258763"/>
            <a:r>
              <a:rPr lang="en-US" sz="1600" dirty="0" err="1"/>
              <a:t>Struktur</a:t>
            </a:r>
            <a:r>
              <a:rPr lang="en-US" sz="1600" dirty="0"/>
              <a:t> </a:t>
            </a:r>
            <a:r>
              <a:rPr lang="en-US" sz="1600" dirty="0" err="1"/>
              <a:t>datanya</a:t>
            </a:r>
            <a:r>
              <a:rPr lang="en-US" sz="1600" dirty="0"/>
              <a:t> </a:t>
            </a:r>
            <a:r>
              <a:rPr lang="en-US" sz="1600" dirty="0" err="1"/>
              <a:t>mirip</a:t>
            </a:r>
            <a:r>
              <a:rPr lang="en-US" sz="1600" dirty="0"/>
              <a:t> array</a:t>
            </a:r>
          </a:p>
          <a:p>
            <a:pPr marL="452438" indent="-258763"/>
            <a:r>
              <a:rPr lang="en-US" sz="1600" dirty="0" err="1"/>
              <a:t>nodeList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berupa</a:t>
            </a:r>
            <a:r>
              <a:rPr lang="en-US" sz="1600" dirty="0"/>
              <a:t> node </a:t>
            </a:r>
            <a:r>
              <a:rPr lang="en-US" sz="1600" dirty="0" err="1"/>
              <a:t>apapun</a:t>
            </a:r>
            <a:r>
              <a:rPr lang="en-US" sz="1600" dirty="0"/>
              <a:t>, </a:t>
            </a:r>
            <a:r>
              <a:rPr lang="en-US" sz="1600" dirty="0" err="1"/>
              <a:t>sedangkan</a:t>
            </a:r>
            <a:r>
              <a:rPr lang="en-US" sz="1600" dirty="0"/>
              <a:t> </a:t>
            </a:r>
            <a:r>
              <a:rPr lang="en-US" sz="1600" dirty="0" err="1"/>
              <a:t>HTMLCollection</a:t>
            </a:r>
            <a:r>
              <a:rPr lang="en-US" sz="1600" dirty="0"/>
              <a:t>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berisi</a:t>
            </a:r>
            <a:r>
              <a:rPr lang="en-US" sz="1600" dirty="0"/>
              <a:t> element html</a:t>
            </a:r>
          </a:p>
        </p:txBody>
      </p:sp>
    </p:spTree>
    <p:extLst>
      <p:ext uri="{BB962C8B-B14F-4D97-AF65-F5344CB8AC3E}">
        <p14:creationId xmlns:p14="http://schemas.microsoft.com/office/powerpoint/2010/main" val="341437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970200" y="748509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Hierarki</a:t>
            </a:r>
            <a:r>
              <a:rPr lang="en-US" dirty="0"/>
              <a:t> DOM</a:t>
            </a:r>
            <a:endParaRPr dirty="0"/>
          </a:p>
        </p:txBody>
      </p:sp>
      <p:sp>
        <p:nvSpPr>
          <p:cNvPr id="4" name="Google Shape;200;p31">
            <a:extLst>
              <a:ext uri="{FF2B5EF4-FFF2-40B4-BE49-F238E27FC236}">
                <a16:creationId xmlns:a16="http://schemas.microsoft.com/office/drawing/2014/main" id="{97788D43-A974-FA48-B936-559BF8868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789090"/>
            <a:ext cx="5891917" cy="49004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2438" indent="-258763"/>
            <a:r>
              <a:rPr lang="en-US" sz="1600" b="1" dirty="0"/>
              <a:t>Root Node</a:t>
            </a:r>
          </a:p>
          <a:p>
            <a:pPr marL="465138" indent="0">
              <a:buNone/>
            </a:pPr>
            <a:r>
              <a:rPr lang="en-US" sz="1600" dirty="0"/>
              <a:t>Node yang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sumber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semua</a:t>
            </a:r>
            <a:r>
              <a:rPr lang="en-US" sz="1600" dirty="0"/>
              <a:t> node lain di </a:t>
            </a:r>
            <a:r>
              <a:rPr lang="en-US" sz="1600" dirty="0" err="1"/>
              <a:t>dalam</a:t>
            </a:r>
            <a:r>
              <a:rPr lang="en-US" sz="1600" dirty="0"/>
              <a:t> dom. </a:t>
            </a:r>
            <a:r>
              <a:rPr lang="en-US" sz="1600" dirty="0" err="1"/>
              <a:t>Secara</a:t>
            </a:r>
            <a:r>
              <a:rPr lang="en-US" sz="1600" dirty="0"/>
              <a:t> default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b="1" dirty="0"/>
              <a:t>document</a:t>
            </a:r>
          </a:p>
          <a:p>
            <a:pPr marL="452438" indent="-258763"/>
            <a:r>
              <a:rPr lang="en-US" sz="1600" b="1" dirty="0"/>
              <a:t>Parent Node</a:t>
            </a:r>
          </a:p>
          <a:p>
            <a:pPr marL="465138" indent="0">
              <a:buNone/>
            </a:pPr>
            <a:r>
              <a:rPr lang="en-US" sz="1600" dirty="0"/>
              <a:t>Node yang </a:t>
            </a:r>
            <a:r>
              <a:rPr lang="en-US" sz="1600" dirty="0" err="1"/>
              <a:t>berada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tingkat</a:t>
            </a:r>
            <a:r>
              <a:rPr lang="en-US" sz="1600" dirty="0"/>
              <a:t> </a:t>
            </a:r>
            <a:r>
              <a:rPr lang="en-US" sz="1600" dirty="0" err="1"/>
              <a:t>diatas</a:t>
            </a:r>
            <a:r>
              <a:rPr lang="en-US" sz="1600" dirty="0"/>
              <a:t> node yang lain</a:t>
            </a:r>
          </a:p>
          <a:p>
            <a:pPr marL="465138" indent="0">
              <a:buNone/>
            </a:pPr>
            <a:r>
              <a:rPr lang="en-US" sz="1600" dirty="0"/>
              <a:t>Body </a:t>
            </a:r>
            <a:r>
              <a:rPr lang="en-US" sz="1600" dirty="0" err="1"/>
              <a:t>adalah</a:t>
            </a:r>
            <a:r>
              <a:rPr lang="en-US" sz="1600" dirty="0"/>
              <a:t> parent </a:t>
            </a:r>
            <a:r>
              <a:rPr lang="en-US" sz="1600" dirty="0" err="1"/>
              <a:t>dari</a:t>
            </a:r>
            <a:r>
              <a:rPr lang="en-US" sz="1600" dirty="0"/>
              <a:t> h1,p,ul</a:t>
            </a:r>
          </a:p>
          <a:p>
            <a:pPr marL="452438" indent="-258763"/>
            <a:r>
              <a:rPr lang="en-US" sz="1600" b="1" dirty="0"/>
              <a:t>Child Node</a:t>
            </a:r>
          </a:p>
          <a:p>
            <a:pPr marL="465138" indent="0">
              <a:buNone/>
            </a:pPr>
            <a:r>
              <a:rPr lang="en-US" sz="1600" dirty="0"/>
              <a:t>Node yang </a:t>
            </a:r>
            <a:r>
              <a:rPr lang="en-US" sz="1600" dirty="0" err="1"/>
              <a:t>berada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Tingkat </a:t>
            </a:r>
            <a:r>
              <a:rPr lang="en-US" sz="1600" dirty="0" err="1"/>
              <a:t>dibawah</a:t>
            </a:r>
            <a:r>
              <a:rPr lang="en-US" sz="1600" dirty="0"/>
              <a:t> node yang lain</a:t>
            </a:r>
          </a:p>
          <a:p>
            <a:pPr marL="465138" indent="0">
              <a:buNone/>
            </a:pPr>
            <a:r>
              <a:rPr lang="en-US" sz="1600" dirty="0"/>
              <a:t>h1 </a:t>
            </a:r>
            <a:r>
              <a:rPr lang="en-US" sz="1600" dirty="0" err="1"/>
              <a:t>adalah</a:t>
            </a:r>
            <a:r>
              <a:rPr lang="en-US" sz="1600" dirty="0"/>
              <a:t> child </a:t>
            </a:r>
            <a:r>
              <a:rPr lang="en-US" sz="1600" dirty="0" err="1"/>
              <a:t>dari</a:t>
            </a:r>
            <a:r>
              <a:rPr lang="en-US" sz="1600" dirty="0"/>
              <a:t> body</a:t>
            </a:r>
          </a:p>
          <a:p>
            <a:pPr marL="465138" indent="0">
              <a:buNone/>
            </a:pPr>
            <a:r>
              <a:rPr lang="en-US" sz="1400" dirty="0"/>
              <a:t>Child node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peduli</a:t>
            </a:r>
            <a:r>
              <a:rPr lang="en-US" sz="1400" dirty="0"/>
              <a:t> type </a:t>
            </a:r>
            <a:r>
              <a:rPr lang="en-US" sz="1400" dirty="0" err="1"/>
              <a:t>nya</a:t>
            </a:r>
            <a:r>
              <a:rPr lang="en-US" sz="1400" dirty="0"/>
              <a:t> </a:t>
            </a:r>
            <a:r>
              <a:rPr lang="en-US" sz="1400" dirty="0" err="1"/>
              <a:t>apa</a:t>
            </a:r>
            <a:endParaRPr lang="en-US" sz="1400" dirty="0"/>
          </a:p>
          <a:p>
            <a:pPr marL="479425" indent="-285750"/>
            <a:r>
              <a:rPr lang="en-US" sz="1600" dirty="0"/>
              <a:t>Children </a:t>
            </a:r>
            <a:r>
              <a:rPr lang="en-US" sz="1600" dirty="0" err="1"/>
              <a:t>adalah</a:t>
            </a:r>
            <a:r>
              <a:rPr lang="en-US" sz="1600" dirty="0"/>
              <a:t> child node </a:t>
            </a:r>
            <a:r>
              <a:rPr lang="en-US" sz="1600" dirty="0" err="1"/>
              <a:t>bertipe</a:t>
            </a:r>
            <a:r>
              <a:rPr lang="en-US" sz="1600" dirty="0"/>
              <a:t> element html</a:t>
            </a:r>
          </a:p>
          <a:p>
            <a:pPr marL="479425" indent="-285750"/>
            <a:r>
              <a:rPr lang="en-US" sz="1600" dirty="0"/>
              <a:t>Sibling </a:t>
            </a:r>
            <a:r>
              <a:rPr lang="en-US" sz="1600" dirty="0" err="1"/>
              <a:t>adalah</a:t>
            </a:r>
            <a:r>
              <a:rPr lang="en-US" sz="1600" dirty="0"/>
              <a:t> child node yang </a:t>
            </a:r>
            <a:r>
              <a:rPr lang="en-US" sz="1600" dirty="0" err="1"/>
              <a:t>memiliki</a:t>
            </a:r>
            <a:r>
              <a:rPr lang="en-US" sz="1600" dirty="0"/>
              <a:t> parent yang </a:t>
            </a:r>
            <a:r>
              <a:rPr lang="en-US" sz="1600" dirty="0" err="1"/>
              <a:t>sama</a:t>
            </a:r>
            <a:endParaRPr lang="en-US" sz="1600" dirty="0"/>
          </a:p>
          <a:p>
            <a:pPr marL="479425" indent="-285750"/>
            <a:r>
              <a:rPr lang="en-US" sz="1600" dirty="0"/>
              <a:t>Descendent </a:t>
            </a:r>
            <a:r>
              <a:rPr lang="en-US" sz="1600" dirty="0" err="1"/>
              <a:t>keturunan</a:t>
            </a:r>
            <a:endParaRPr lang="en-US" sz="1600" dirty="0"/>
          </a:p>
          <a:p>
            <a:pPr marL="193675" indent="0">
              <a:buNone/>
            </a:pPr>
            <a:endParaRPr lang="en-US" sz="1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3E5302-49E8-5467-AAE9-D4EEFD9EB6C4}"/>
              </a:ext>
            </a:extLst>
          </p:cNvPr>
          <p:cNvGrpSpPr/>
          <p:nvPr/>
        </p:nvGrpSpPr>
        <p:grpSpPr>
          <a:xfrm>
            <a:off x="6346658" y="1884114"/>
            <a:ext cx="5241758" cy="3941673"/>
            <a:chOff x="6665494" y="1825625"/>
            <a:chExt cx="5241758" cy="394167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7CF3D1-CFEB-7CCA-05F8-CF96301337AC}"/>
                </a:ext>
              </a:extLst>
            </p:cNvPr>
            <p:cNvSpPr/>
            <p:nvPr/>
          </p:nvSpPr>
          <p:spPr>
            <a:xfrm>
              <a:off x="8213558" y="1825625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html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9C74D9-0A81-1705-48EB-A4989A4EF79A}"/>
                </a:ext>
              </a:extLst>
            </p:cNvPr>
            <p:cNvSpPr/>
            <p:nvPr/>
          </p:nvSpPr>
          <p:spPr>
            <a:xfrm>
              <a:off x="6665495" y="2860340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head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FAA5C5-9745-95BD-BEE5-B5048C153D0C}"/>
                </a:ext>
              </a:extLst>
            </p:cNvPr>
            <p:cNvSpPr/>
            <p:nvPr/>
          </p:nvSpPr>
          <p:spPr>
            <a:xfrm>
              <a:off x="6665494" y="3854951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title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1725F5-BABD-F8C7-1B4F-6C9EF4B494B1}"/>
                </a:ext>
              </a:extLst>
            </p:cNvPr>
            <p:cNvSpPr/>
            <p:nvPr/>
          </p:nvSpPr>
          <p:spPr>
            <a:xfrm>
              <a:off x="9537031" y="2860339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body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A6400B1-6498-2370-1871-4056614F1379}"/>
                </a:ext>
              </a:extLst>
            </p:cNvPr>
            <p:cNvSpPr/>
            <p:nvPr/>
          </p:nvSpPr>
          <p:spPr>
            <a:xfrm>
              <a:off x="8213557" y="3854950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2AF8A25-DB8B-BB50-BF53-4E5BAEB65C37}"/>
                </a:ext>
              </a:extLst>
            </p:cNvPr>
            <p:cNvSpPr/>
            <p:nvPr/>
          </p:nvSpPr>
          <p:spPr>
            <a:xfrm>
              <a:off x="9537030" y="3854949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4DCBAF-4B42-9061-189D-F0ED823DE75F}"/>
                </a:ext>
              </a:extLst>
            </p:cNvPr>
            <p:cNvSpPr/>
            <p:nvPr/>
          </p:nvSpPr>
          <p:spPr>
            <a:xfrm>
              <a:off x="10800347" y="3854949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ul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432897-5406-2C9E-42CB-842DE6C50EE7}"/>
                </a:ext>
              </a:extLst>
            </p:cNvPr>
            <p:cNvSpPr/>
            <p:nvPr/>
          </p:nvSpPr>
          <p:spPr>
            <a:xfrm>
              <a:off x="10800346" y="5090355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li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F20B7F-EFA8-8646-AB1C-B71F29A838FC}"/>
                </a:ext>
              </a:extLst>
            </p:cNvPr>
            <p:cNvSpPr/>
            <p:nvPr/>
          </p:nvSpPr>
          <p:spPr>
            <a:xfrm>
              <a:off x="9537029" y="5090354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li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11813C9-181D-32C5-199A-53C80E57876F}"/>
                </a:ext>
              </a:extLst>
            </p:cNvPr>
            <p:cNvSpPr/>
            <p:nvPr/>
          </p:nvSpPr>
          <p:spPr>
            <a:xfrm>
              <a:off x="8213557" y="5090354"/>
              <a:ext cx="1106905" cy="67694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li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EE84D60-4E6C-A11A-AC79-AD6B6D8E476A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 flipH="1">
              <a:off x="7218948" y="2502568"/>
              <a:ext cx="1548063" cy="357772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461E7EB-013D-7EB2-0A63-F9CA246222D3}"/>
                </a:ext>
              </a:extLst>
            </p:cNvPr>
            <p:cNvCxnSpPr>
              <a:stCxn id="9" idx="0"/>
              <a:endCxn id="6" idx="2"/>
            </p:cNvCxnSpPr>
            <p:nvPr/>
          </p:nvCxnSpPr>
          <p:spPr>
            <a:xfrm flipH="1" flipV="1">
              <a:off x="8767011" y="2502568"/>
              <a:ext cx="1323473" cy="357771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8BE9AC-89AF-14AE-BC39-37D7583ABCA0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flipH="1">
              <a:off x="7218947" y="3537283"/>
              <a:ext cx="1" cy="317668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C44F0C3-0E28-CBC3-6011-5A60DE81E37C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 flipH="1">
              <a:off x="8767010" y="3537282"/>
              <a:ext cx="1323474" cy="317668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096D43-05D6-4917-0AB6-0D357EDA6E95}"/>
                </a:ext>
              </a:extLst>
            </p:cNvPr>
            <p:cNvCxnSpPr>
              <a:stCxn id="11" idx="0"/>
              <a:endCxn id="9" idx="2"/>
            </p:cNvCxnSpPr>
            <p:nvPr/>
          </p:nvCxnSpPr>
          <p:spPr>
            <a:xfrm flipV="1">
              <a:off x="10090483" y="3537282"/>
              <a:ext cx="1" cy="317667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89CA2BB-740D-AD93-29E5-79588D0953C3}"/>
                </a:ext>
              </a:extLst>
            </p:cNvPr>
            <p:cNvCxnSpPr>
              <a:stCxn id="12" idx="0"/>
              <a:endCxn id="9" idx="2"/>
            </p:cNvCxnSpPr>
            <p:nvPr/>
          </p:nvCxnSpPr>
          <p:spPr>
            <a:xfrm flipH="1" flipV="1">
              <a:off x="10090484" y="3537282"/>
              <a:ext cx="1263316" cy="317667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5435ADA-7C34-7C8D-603A-51897CF99C09}"/>
                </a:ext>
              </a:extLst>
            </p:cNvPr>
            <p:cNvCxnSpPr>
              <a:stCxn id="15" idx="0"/>
              <a:endCxn id="12" idx="2"/>
            </p:cNvCxnSpPr>
            <p:nvPr/>
          </p:nvCxnSpPr>
          <p:spPr>
            <a:xfrm flipV="1">
              <a:off x="8767010" y="4531892"/>
              <a:ext cx="2586790" cy="558462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56F732D-9266-8298-B646-BD23F4B16A12}"/>
                </a:ext>
              </a:extLst>
            </p:cNvPr>
            <p:cNvCxnSpPr>
              <a:stCxn id="14" idx="0"/>
              <a:endCxn id="12" idx="2"/>
            </p:cNvCxnSpPr>
            <p:nvPr/>
          </p:nvCxnSpPr>
          <p:spPr>
            <a:xfrm flipV="1">
              <a:off x="10090482" y="4531892"/>
              <a:ext cx="1263318" cy="558462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0ABC4DB-4EEF-B48A-3C2C-1C207C3CB9A2}"/>
                </a:ext>
              </a:extLst>
            </p:cNvPr>
            <p:cNvCxnSpPr>
              <a:stCxn id="13" idx="0"/>
              <a:endCxn id="12" idx="2"/>
            </p:cNvCxnSpPr>
            <p:nvPr/>
          </p:nvCxnSpPr>
          <p:spPr>
            <a:xfrm flipV="1">
              <a:off x="11353799" y="4531892"/>
              <a:ext cx="1" cy="558463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500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DOM </a:t>
            </a:r>
            <a:r>
              <a:rPr lang="en-US" sz="3600" dirty="0"/>
              <a:t>Selection Method</a:t>
            </a:r>
            <a:endParaRPr dirty="0"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/>
            <a:r>
              <a:rPr lang="en-US" sz="1800" dirty="0" err="1"/>
              <a:t>getElementById</a:t>
            </a:r>
            <a:r>
              <a:rPr lang="en-US" sz="1800" dirty="0"/>
              <a:t>()</a:t>
            </a:r>
          </a:p>
          <a:p>
            <a:pPr marL="285750" indent="-285750"/>
            <a:r>
              <a:rPr lang="en-US" sz="1800" dirty="0" err="1"/>
              <a:t>getElementsByTagName</a:t>
            </a:r>
            <a:r>
              <a:rPr lang="en-US" sz="1800" dirty="0"/>
              <a:t>()</a:t>
            </a:r>
          </a:p>
          <a:p>
            <a:pPr marL="285750" indent="-285750"/>
            <a:r>
              <a:rPr lang="en-US" sz="1800" dirty="0" err="1"/>
              <a:t>getElementsByClassName</a:t>
            </a:r>
            <a:r>
              <a:rPr lang="en-US" sz="1800" dirty="0"/>
              <a:t>()</a:t>
            </a:r>
          </a:p>
          <a:p>
            <a:pPr marL="285750" indent="-285750"/>
            <a:r>
              <a:rPr lang="en-US" sz="1800" dirty="0" err="1"/>
              <a:t>querySelector</a:t>
            </a:r>
            <a:r>
              <a:rPr lang="en-US" sz="1800" dirty="0"/>
              <a:t>()</a:t>
            </a:r>
          </a:p>
          <a:p>
            <a:pPr marL="285750" indent="-285750"/>
            <a:r>
              <a:rPr lang="en-US" sz="1800" dirty="0" err="1"/>
              <a:t>querySelectorAll</a:t>
            </a:r>
            <a:r>
              <a:rPr lang="en-US" sz="1800" dirty="0"/>
              <a:t>()</a:t>
            </a:r>
          </a:p>
          <a:p>
            <a:pPr marL="0" indent="0">
              <a:buNone/>
            </a:pP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1710439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Google Shape;239;p38"/>
          <p:cNvGraphicFramePr/>
          <p:nvPr>
            <p:extLst>
              <p:ext uri="{D42A27DB-BD31-4B8C-83A1-F6EECF244321}">
                <p14:modId xmlns:p14="http://schemas.microsoft.com/office/powerpoint/2010/main" val="843492360"/>
              </p:ext>
            </p:extLst>
          </p:nvPr>
        </p:nvGraphicFramePr>
        <p:xfrm>
          <a:off x="1155700" y="2783973"/>
          <a:ext cx="10251440" cy="33281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3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0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8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 dirty="0">
                          <a:solidFill>
                            <a:schemeClr val="bg2"/>
                          </a:solidFill>
                        </a:rPr>
                        <a:t>Method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2000" dirty="0">
                          <a:solidFill>
                            <a:schemeClr val="bg2"/>
                          </a:solidFill>
                        </a:rPr>
                        <a:t>Hasil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300"/>
                        <a:buFont typeface="Lato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getElementById</a:t>
                      </a: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()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element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getElementsByTagName</a:t>
                      </a: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()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>
                          <a:solidFill>
                            <a:schemeClr val="bg2"/>
                          </a:solidFill>
                        </a:rPr>
                        <a:t>HTMLCollection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300"/>
                        <a:buFont typeface="Lato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getElementsByClassName</a:t>
                      </a: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()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>
                          <a:solidFill>
                            <a:schemeClr val="bg2"/>
                          </a:solidFill>
                        </a:rPr>
                        <a:t>HTMLCollection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8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300"/>
                        <a:buFont typeface="Lato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querySelector</a:t>
                      </a: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()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element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5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1300"/>
                        <a:buFont typeface="Lato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querySelectorAll</a:t>
                      </a:r>
                      <a:r>
                        <a:rPr kumimoji="0" lang="en-US" sz="2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Lato"/>
                          <a:ea typeface="Lato"/>
                          <a:cs typeface="Lato"/>
                          <a:sym typeface="Lato"/>
                        </a:rPr>
                        <a:t>()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>
                          <a:solidFill>
                            <a:schemeClr val="bg2"/>
                          </a:solidFill>
                        </a:rPr>
                        <a:t>nodeList</a:t>
                      </a:r>
                      <a:endParaRPr sz="2000" dirty="0">
                        <a:solidFill>
                          <a:schemeClr val="bg2"/>
                        </a:solidFill>
                      </a:endParaRP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6E5E906-7E08-C94E-8566-95B6BC698602}"/>
              </a:ext>
            </a:extLst>
          </p:cNvPr>
          <p:cNvSpPr/>
          <p:nvPr/>
        </p:nvSpPr>
        <p:spPr>
          <a:xfrm>
            <a:off x="1004887" y="1763609"/>
            <a:ext cx="7988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67" b="1" kern="0" dirty="0">
                <a:solidFill>
                  <a:srgbClr val="1A1A1A"/>
                </a:solidFill>
                <a:latin typeface="Raleway"/>
                <a:sym typeface="Raleway"/>
              </a:rPr>
              <a:t>DOM </a:t>
            </a:r>
            <a:r>
              <a:rPr lang="en-US" sz="3600" b="1" kern="0" dirty="0">
                <a:solidFill>
                  <a:srgbClr val="1A1A1A"/>
                </a:solidFill>
                <a:latin typeface="Raleway"/>
                <a:sym typeface="Raleway"/>
              </a:rPr>
              <a:t>Selection Method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94424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DOM </a:t>
            </a:r>
            <a:r>
              <a:rPr lang="en-US" sz="3600" dirty="0"/>
              <a:t>Manipulation Element</a:t>
            </a:r>
            <a:br>
              <a:rPr lang="en-US" sz="3600" dirty="0"/>
            </a:br>
            <a:endParaRPr dirty="0"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sz="1800" b="1" dirty="0"/>
              <a:t>Method:</a:t>
            </a:r>
          </a:p>
          <a:p>
            <a:pPr marL="285750" indent="-285750"/>
            <a:r>
              <a:rPr lang="en-US" sz="2400" b="1" dirty="0" err="1"/>
              <a:t>element.innerHTML</a:t>
            </a:r>
            <a:endParaRPr lang="en-US" sz="2400" b="1" dirty="0"/>
          </a:p>
          <a:p>
            <a:pPr marL="285750" indent="-285750"/>
            <a:r>
              <a:rPr lang="en-US" sz="2400" b="1" dirty="0" err="1"/>
              <a:t>element.style</a:t>
            </a:r>
            <a:r>
              <a:rPr lang="en-US" sz="2400" b="1" dirty="0"/>
              <a:t>&lt;property&gt;</a:t>
            </a:r>
          </a:p>
          <a:p>
            <a:pPr marL="285750" indent="-285750"/>
            <a:r>
              <a:rPr lang="en-US" sz="2400" b="1" dirty="0" err="1"/>
              <a:t>element.setAttribute</a:t>
            </a:r>
            <a:r>
              <a:rPr lang="en-US" sz="2400" b="1" dirty="0"/>
              <a:t>() || </a:t>
            </a:r>
            <a:r>
              <a:rPr lang="en-US" sz="2400" b="1" dirty="0" err="1"/>
              <a:t>getAttribute</a:t>
            </a:r>
            <a:r>
              <a:rPr lang="en-US" sz="2400" b="1" dirty="0"/>
              <a:t>() || </a:t>
            </a:r>
            <a:r>
              <a:rPr lang="en-US" sz="2400" b="1" dirty="0" err="1"/>
              <a:t>removeAttribute</a:t>
            </a:r>
            <a:r>
              <a:rPr lang="en-US" sz="2400" b="1" dirty="0"/>
              <a:t>()</a:t>
            </a:r>
          </a:p>
          <a:p>
            <a:pPr marL="285750" indent="-285750"/>
            <a:r>
              <a:rPr lang="en-US" sz="2400" b="1" dirty="0" err="1"/>
              <a:t>element.classList</a:t>
            </a:r>
            <a:r>
              <a:rPr lang="en-US" sz="2400" b="1" dirty="0"/>
              <a:t> </a:t>
            </a:r>
          </a:p>
          <a:p>
            <a:pPr marL="194729" indent="0"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061782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600" dirty="0"/>
              <a:t>DOM Manipulation </a:t>
            </a:r>
            <a:r>
              <a:rPr lang="en-US" sz="3600" dirty="0" err="1"/>
              <a:t>ClassList</a:t>
            </a:r>
            <a:br>
              <a:rPr lang="en-US" sz="3600" dirty="0"/>
            </a:br>
            <a:endParaRPr dirty="0"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/>
            <a:r>
              <a:rPr lang="en-US" sz="2400" b="1" i="1" dirty="0" err="1"/>
              <a:t>element.classList.add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element.classList.remove</a:t>
            </a:r>
            <a:endParaRPr lang="en-US" sz="2400" b="1" i="1" dirty="0"/>
          </a:p>
          <a:p>
            <a:pPr marL="285750" indent="-285750"/>
            <a:r>
              <a:rPr lang="en-US" sz="2400" b="1" i="1" dirty="0" err="1"/>
              <a:t>element.classList.toggle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element.classList.item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element.classList.contains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element.classList.replace</a:t>
            </a:r>
            <a:r>
              <a:rPr lang="en-US" sz="2400" b="1" i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08840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600" dirty="0"/>
              <a:t>DOM Manipulation Node</a:t>
            </a:r>
            <a:br>
              <a:rPr lang="en-US" sz="3600" dirty="0"/>
            </a:br>
            <a:endParaRPr dirty="0"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/>
            <a:r>
              <a:rPr lang="en-US" sz="2800" b="1" i="1" dirty="0" err="1"/>
              <a:t>document.createElement</a:t>
            </a:r>
            <a:r>
              <a:rPr lang="en-US" sz="2800" b="1" i="1" dirty="0"/>
              <a:t>()</a:t>
            </a:r>
          </a:p>
          <a:p>
            <a:pPr marL="285750" indent="-285750"/>
            <a:r>
              <a:rPr lang="en-US" sz="2800" b="1" i="1" dirty="0" err="1"/>
              <a:t>document.createTextNode</a:t>
            </a:r>
            <a:r>
              <a:rPr lang="en-US" sz="2800" b="1" i="1" dirty="0"/>
              <a:t>();</a:t>
            </a:r>
          </a:p>
          <a:p>
            <a:pPr marL="285750" indent="-285750"/>
            <a:r>
              <a:rPr lang="en-US" sz="2800" b="1" i="1" dirty="0" err="1"/>
              <a:t>document.appendChild</a:t>
            </a:r>
            <a:r>
              <a:rPr lang="en-US" sz="2800" b="1" i="1" dirty="0"/>
              <a:t>()</a:t>
            </a:r>
          </a:p>
          <a:p>
            <a:pPr marL="285750" indent="-285750"/>
            <a:r>
              <a:rPr lang="en-US" sz="2800" b="1" i="1" dirty="0" err="1"/>
              <a:t>document.insertBefore</a:t>
            </a:r>
            <a:r>
              <a:rPr lang="en-US" sz="2800" b="1" i="1" dirty="0"/>
              <a:t>()</a:t>
            </a:r>
          </a:p>
          <a:p>
            <a:pPr marL="285750" indent="-285750"/>
            <a:r>
              <a:rPr lang="en-US" sz="2400" b="1" i="1" dirty="0" err="1"/>
              <a:t>document.removeChild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document.replaceChild</a:t>
            </a:r>
            <a:r>
              <a:rPr lang="en-US" sz="2400" b="1" i="1" dirty="0"/>
              <a:t>()</a:t>
            </a:r>
          </a:p>
          <a:p>
            <a:pPr marL="194729" indent="0">
              <a:buNone/>
            </a:pP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69930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3600" dirty="0"/>
              <a:t>DOM Manipulation Node New</a:t>
            </a:r>
            <a:br>
              <a:rPr lang="en-US" sz="3600" dirty="0"/>
            </a:br>
            <a:endParaRPr dirty="0"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/>
            <a:r>
              <a:rPr lang="en-US" sz="2800" b="1" i="1" dirty="0" err="1"/>
              <a:t>parentNode.append</a:t>
            </a:r>
            <a:r>
              <a:rPr lang="en-US" sz="2800" b="1" i="1" dirty="0"/>
              <a:t>()</a:t>
            </a:r>
          </a:p>
          <a:p>
            <a:pPr marL="285750" indent="-285750"/>
            <a:r>
              <a:rPr lang="en-US" sz="2400" b="1" i="1" dirty="0" err="1"/>
              <a:t>parentNode.prepend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chileNode.insertbefore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chileNode.after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chileNode.remove</a:t>
            </a:r>
            <a:r>
              <a:rPr lang="en-US" sz="2400" b="1" i="1" dirty="0"/>
              <a:t>()</a:t>
            </a:r>
          </a:p>
          <a:p>
            <a:pPr marL="285750" indent="-285750"/>
            <a:r>
              <a:rPr lang="en-US" sz="2400" b="1" i="1" dirty="0" err="1"/>
              <a:t>chileNode.replaceWith</a:t>
            </a:r>
            <a:r>
              <a:rPr lang="en-US" sz="2400" b="1" i="1" dirty="0"/>
              <a:t>()</a:t>
            </a:r>
          </a:p>
          <a:p>
            <a:pPr marL="285750" indent="-285750"/>
            <a:endParaRPr lang="en-US" sz="2400" b="1" i="1" dirty="0"/>
          </a:p>
          <a:p>
            <a:pPr marL="194729" indent="0">
              <a:buNone/>
            </a:pP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1528148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 err="1"/>
              <a:t>Contoh</a:t>
            </a:r>
            <a:r>
              <a:rPr lang="en-US" dirty="0"/>
              <a:t> Program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8801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2857F3-DF26-32DE-88F2-ABB4DFEC3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28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03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B5D48-BAA6-6FCA-CEE4-D0E4A7BAD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74" y="0"/>
            <a:ext cx="8906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06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FC87AB-0758-AA91-FC1A-092BD5FF2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234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22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FC29B0-C303-7A55-DDC2-AE81C4A9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25400"/>
            <a:ext cx="8896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16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0871B-525C-4C82-9F48-1B1B9B91A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12" y="0"/>
            <a:ext cx="115187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03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41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/>
              <a:t>HTML Element Lainnya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0638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42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/>
              <a:t>HTML Element Lainnya</a:t>
            </a:r>
            <a:endParaRPr/>
          </a:p>
        </p:txBody>
      </p:sp>
      <p:sp>
        <p:nvSpPr>
          <p:cNvPr id="845" name="Google Shape;845;p142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id" dirty="0"/>
              <a:t>Sebenarnya masih banyak element-element HTML lainnya yang terdapat dalam Standard Web API</a:t>
            </a:r>
            <a:endParaRPr dirty="0"/>
          </a:p>
          <a:p>
            <a:r>
              <a:rPr lang="id" dirty="0"/>
              <a:t>Namun akan terlalu banyak jika dibahas satu per-satu</a:t>
            </a:r>
            <a:endParaRPr dirty="0"/>
          </a:p>
          <a:p>
            <a:r>
              <a:rPr lang="id" u="sng" dirty="0">
                <a:solidFill>
                  <a:schemeClr val="hlink"/>
                </a:solidFill>
                <a:hlinkClick r:id="rId3"/>
              </a:rPr>
              <a:t>https://developer.mozilla.org/en-US/docs/Web/API#interfaces</a:t>
            </a:r>
            <a:r>
              <a:rPr lang="id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2417646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10637</TotalTime>
  <Words>1386</Words>
  <Application>Microsoft Office PowerPoint</Application>
  <PresentationFormat>Widescreen</PresentationFormat>
  <Paragraphs>271</Paragraphs>
  <Slides>38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Lato</vt:lpstr>
      <vt:lpstr>Raleway</vt:lpstr>
      <vt:lpstr>Streamline</vt:lpstr>
      <vt:lpstr>1_Streamline</vt:lpstr>
      <vt:lpstr>JavaScript Document Object Model</vt:lpstr>
      <vt:lpstr>Pengenalan DOM</vt:lpstr>
      <vt:lpstr>Pengenalan DOM</vt:lpstr>
      <vt:lpstr>Pengenalan DOM</vt:lpstr>
      <vt:lpstr>DOM dan JavaScript</vt:lpstr>
      <vt:lpstr>Apa Yang Bisa Dilakukan Dengan DOM</vt:lpstr>
      <vt:lpstr>Document</vt:lpstr>
      <vt:lpstr>OBJECT</vt:lpstr>
      <vt:lpstr>MODEL</vt:lpstr>
      <vt:lpstr>Refresentasi DOM</vt:lpstr>
      <vt:lpstr>Diagram DOM (DOM TREE)</vt:lpstr>
      <vt:lpstr>DOM Tree</vt:lpstr>
      <vt:lpstr>DOM</vt:lpstr>
      <vt:lpstr>DOM JAVASCRIPT</vt:lpstr>
      <vt:lpstr>Tipe Data</vt:lpstr>
      <vt:lpstr>Tipe Data</vt:lpstr>
      <vt:lpstr>PowerPoint Presentation</vt:lpstr>
      <vt:lpstr>DOM DATA TYPE</vt:lpstr>
      <vt:lpstr>NodeList vs HTMLCollection</vt:lpstr>
      <vt:lpstr>NodeList vs HTMLCollection</vt:lpstr>
      <vt:lpstr>NodeList vs HTMLCollection</vt:lpstr>
      <vt:lpstr>NodeList vs HTMLCollection</vt:lpstr>
      <vt:lpstr>NodeList vs HTMLCollection</vt:lpstr>
      <vt:lpstr>Struktur Hierarki DOM</vt:lpstr>
      <vt:lpstr>DOM Selection Method</vt:lpstr>
      <vt:lpstr>PowerPoint Presentation</vt:lpstr>
      <vt:lpstr>DOM Manipulation Element </vt:lpstr>
      <vt:lpstr>DOM Manipulation ClassList </vt:lpstr>
      <vt:lpstr>DOM Manipulation Node </vt:lpstr>
      <vt:lpstr>DOM Manipulation Node New </vt:lpstr>
      <vt:lpstr>Contoh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 Element Lainnya</vt:lpstr>
      <vt:lpstr>HTML Element Lainnya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Microsoft Office User</dc:creator>
  <cp:lastModifiedBy>lanz ginanjar</cp:lastModifiedBy>
  <cp:revision>180</cp:revision>
  <dcterms:created xsi:type="dcterms:W3CDTF">2015-09-29T03:41:19Z</dcterms:created>
  <dcterms:modified xsi:type="dcterms:W3CDTF">2026-10-27T15:46:01Z</dcterms:modified>
</cp:coreProperties>
</file>